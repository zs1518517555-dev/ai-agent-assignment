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b9e5271b89c4431" /><Relationship Type="http://schemas.openxmlformats.org/officeDocument/2006/relationships/extended-properties" Target="/docProps/app.xml" Id="R9e738bc6003b469d" /><Relationship Type="http://schemas.openxmlformats.org/officeDocument/2006/relationships/officeDocument" Target="/ppt/presentation.xml" Id="R649fa5c2de1546f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6e9d651ddeb47ca"/>
  </p:sldMasterIdLst>
  <p:notesMasterIdLst>
    <p:notesMasterId xmlns:r="http://schemas.openxmlformats.org/officeDocument/2006/relationships" r:id="R61d63b4b0f164dba"/>
  </p:notesMasterIdLst>
  <p:sldIdLst>
    <p:sldId xmlns:r="http://schemas.openxmlformats.org/officeDocument/2006/relationships" id="256" r:id="R54c147cfc0994df2"/>
    <p:sldId xmlns:r="http://schemas.openxmlformats.org/officeDocument/2006/relationships" id="257" r:id="R30d1df932bed4d6e"/>
    <p:sldId xmlns:r="http://schemas.openxmlformats.org/officeDocument/2006/relationships" id="258" r:id="R54fc666c925b4701"/>
    <p:sldId xmlns:r="http://schemas.openxmlformats.org/officeDocument/2006/relationships" id="259" r:id="R2dbf31978c73478c"/>
    <p:sldId xmlns:r="http://schemas.openxmlformats.org/officeDocument/2006/relationships" id="260" r:id="R315cddd44f4a494e"/>
    <p:sldId xmlns:r="http://schemas.openxmlformats.org/officeDocument/2006/relationships" id="261" r:id="R511c254583ab44c4"/>
    <p:sldId xmlns:r="http://schemas.openxmlformats.org/officeDocument/2006/relationships" id="262" r:id="Rc2090a5d9ee6449a"/>
    <p:sldId xmlns:r="http://schemas.openxmlformats.org/officeDocument/2006/relationships" id="263" r:id="R7740619b5ac841af"/>
    <p:sldId xmlns:r="http://schemas.openxmlformats.org/officeDocument/2006/relationships" id="264" r:id="R39fbcaaf121f491f"/>
    <p:sldId xmlns:r="http://schemas.openxmlformats.org/officeDocument/2006/relationships" id="265" r:id="R043b25e79d864478"/>
    <p:sldId xmlns:r="http://schemas.openxmlformats.org/officeDocument/2006/relationships" id="266" r:id="R5172b42cfa7b4f63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a420eb29ef6436f" /><Relationship Type="http://schemas.openxmlformats.org/officeDocument/2006/relationships/slideMaster" Target="/ppt/slideMasters/slideMaster1.xml" Id="R26e9d651ddeb47ca" /><Relationship Type="http://schemas.openxmlformats.org/officeDocument/2006/relationships/notesMaster" Target="/ppt/notesMasters/notesMaster1.xml" Id="R61d63b4b0f164dba" /><Relationship Type="http://schemas.openxmlformats.org/officeDocument/2006/relationships/presProps" Target="/ppt/presProps.xml" Id="R162e62220b594b26" /><Relationship Type="http://schemas.openxmlformats.org/officeDocument/2006/relationships/tableStyles" Target="/ppt/tableStyles.xml" Id="R352f18ca05ce47d3" /><Relationship Type="http://schemas.openxmlformats.org/officeDocument/2006/relationships/slide" Target="/ppt/slides/slide1.xml" Id="R54c147cfc0994df2" /><Relationship Type="http://schemas.openxmlformats.org/officeDocument/2006/relationships/slide" Target="/ppt/slides/slide2.xml" Id="R30d1df932bed4d6e" /><Relationship Type="http://schemas.openxmlformats.org/officeDocument/2006/relationships/slide" Target="/ppt/slides/slide3.xml" Id="R54fc666c925b4701" /><Relationship Type="http://schemas.openxmlformats.org/officeDocument/2006/relationships/slide" Target="/ppt/slides/slide4.xml" Id="R2dbf31978c73478c" /><Relationship Type="http://schemas.openxmlformats.org/officeDocument/2006/relationships/slide" Target="/ppt/slides/slide5.xml" Id="R315cddd44f4a494e" /><Relationship Type="http://schemas.openxmlformats.org/officeDocument/2006/relationships/slide" Target="/ppt/slides/slide6.xml" Id="R511c254583ab44c4" /><Relationship Type="http://schemas.openxmlformats.org/officeDocument/2006/relationships/slide" Target="/ppt/slides/slide7.xml" Id="Rc2090a5d9ee6449a" /><Relationship Type="http://schemas.openxmlformats.org/officeDocument/2006/relationships/slide" Target="/ppt/slides/slide8.xml" Id="R7740619b5ac841af" /><Relationship Type="http://schemas.openxmlformats.org/officeDocument/2006/relationships/slide" Target="/ppt/slides/slide9.xml" Id="R39fbcaaf121f491f" /><Relationship Type="http://schemas.openxmlformats.org/officeDocument/2006/relationships/slide" Target="/ppt/slides/slide10.xml" Id="R043b25e79d864478" /><Relationship Type="http://schemas.openxmlformats.org/officeDocument/2006/relationships/slide" Target="/ppt/slides/slide11.xml" Id="R5172b42cfa7b4f6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92b9804e655447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3d73e7a58074254" /><Relationship Type="http://schemas.openxmlformats.org/officeDocument/2006/relationships/notesMaster" Target="/ppt/notesMasters/notesMaster1.xml" Id="R3d5b37e74b81479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dcc6cad7e204801" /><Relationship Type="http://schemas.openxmlformats.org/officeDocument/2006/relationships/notesMaster" Target="/ppt/notesMasters/notesMaster1.xml" Id="R0fe6887678ab465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9514442787b4553" /><Relationship Type="http://schemas.openxmlformats.org/officeDocument/2006/relationships/notesMaster" Target="/ppt/notesMasters/notesMaster1.xml" Id="R395d85c4c68a414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7b8c2301bec4b63" /><Relationship Type="http://schemas.openxmlformats.org/officeDocument/2006/relationships/notesMaster" Target="/ppt/notesMasters/notesMaster1.xml" Id="Rd5f51fe644394ac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6c57e726d8d4edc" /><Relationship Type="http://schemas.openxmlformats.org/officeDocument/2006/relationships/notesMaster" Target="/ppt/notesMasters/notesMaster1.xml" Id="R64790cf43489476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448863c3ecf483d" /><Relationship Type="http://schemas.openxmlformats.org/officeDocument/2006/relationships/notesMaster" Target="/ppt/notesMasters/notesMaster1.xml" Id="R96d7fe3379de45d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b91c1393ab947bb" /><Relationship Type="http://schemas.openxmlformats.org/officeDocument/2006/relationships/notesMaster" Target="/ppt/notesMasters/notesMaster1.xml" Id="Re4c936e60adf456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58adb8894744901" /><Relationship Type="http://schemas.openxmlformats.org/officeDocument/2006/relationships/notesMaster" Target="/ppt/notesMasters/notesMaster1.xml" Id="R21f0c75d8255477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af7d5c4671d4bc2" /><Relationship Type="http://schemas.openxmlformats.org/officeDocument/2006/relationships/notesMaster" Target="/ppt/notesMasters/notesMaster1.xml" Id="R7512502fa5154ef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aa7774f48ee407b" /><Relationship Type="http://schemas.openxmlformats.org/officeDocument/2006/relationships/notesMaster" Target="/ppt/notesMasters/notesMaster1.xml" Id="R2e30b6b4a4ae435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4d61b4d5f0c4f44" /><Relationship Type="http://schemas.openxmlformats.org/officeDocument/2006/relationships/notesMaster" Target="/ppt/notesMasters/notesMaster1.xml" Id="R6d992bbfaae7471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fd9ace1a8f2405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6e6a31af3e040fe" /><Relationship Type="http://schemas.openxmlformats.org/officeDocument/2006/relationships/slideLayout" Target="/ppt/slideLayouts/slideLayout1.xml" Id="R3e76806daf034e6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e76806daf034e6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06f1f7f794459d" /><Relationship Type="http://schemas.openxmlformats.org/officeDocument/2006/relationships/notesSlide" Target="/ppt/notesSlides/notesSlide1.xml" Id="Rc7e68568e4b4413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7da8c6c2754add" /><Relationship Type="http://schemas.openxmlformats.org/officeDocument/2006/relationships/notesSlide" Target="/ppt/notesSlides/notesSlide2.xml" Id="R63b970597a27434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4706ecb1b442d2" /><Relationship Type="http://schemas.openxmlformats.org/officeDocument/2006/relationships/notesSlide" Target="/ppt/notesSlides/notesSlide3.xml" Id="R6cb33d79031241e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eaacc5ee144369" /><Relationship Type="http://schemas.openxmlformats.org/officeDocument/2006/relationships/notesSlide" Target="/ppt/notesSlides/notesSlide4.xml" Id="R30cc26c3d23444e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83d394945b48ff" /><Relationship Type="http://schemas.openxmlformats.org/officeDocument/2006/relationships/notesSlide" Target="/ppt/notesSlides/notesSlide5.xml" Id="R469b3e33dce84e0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b9822af8ab443c" /><Relationship Type="http://schemas.openxmlformats.org/officeDocument/2006/relationships/notesSlide" Target="/ppt/notesSlides/notesSlide6.xml" Id="R2171a42fc22d45f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9a68e7d75f48b0" /><Relationship Type="http://schemas.openxmlformats.org/officeDocument/2006/relationships/notesSlide" Target="/ppt/notesSlides/notesSlide7.xml" Id="R444fc76907884d9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f1092852624928" /><Relationship Type="http://schemas.openxmlformats.org/officeDocument/2006/relationships/notesSlide" Target="/ppt/notesSlides/notesSlide8.xml" Id="R0b1a8de95c92457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dfd2da0ca4442c" /><Relationship Type="http://schemas.openxmlformats.org/officeDocument/2006/relationships/notesSlide" Target="/ppt/notesSlides/notesSlide9.xml" Id="Raee935cff0bf40a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569e16b7734e49" /><Relationship Type="http://schemas.openxmlformats.org/officeDocument/2006/relationships/notesSlide" Target="/ppt/notesSlides/notesSlide10.xml" Id="Re6b5aa304379484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4b173dc9f74679" /><Relationship Type="http://schemas.openxmlformats.org/officeDocument/2006/relationships/notesSlide" Target="/ppt/notesSlides/notesSlide11.xml" Id="R02e85adc64e24150" /></Relationships>
</file>

<file path=ppt/slides/slide1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020618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" name="">
            <a:extLst>
              <a:ext uri="{FF2B5EF4-FFF2-40B4-BE49-F238E27FC236}">
                <ns2:creationId id="{AC584A60-762E-45CC-9890-628FC58A74D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20618"/>
          </a:solidFill>
          <a:ln w="9525">
            <a:solidFill>
              <a:srgbClr val="020618"/>
            </a:solidFill>
            <a:prstDash val="solid"/>
          </a:ln>
        </p:spPr>
      </p:sp>
      <p:sp>
        <p:nvSpPr>
          <p:cNvPr id="2" name="">
            <a:extLst>
              <a:ext uri="{FF2B5EF4-FFF2-40B4-BE49-F238E27FC236}">
                <ns2:creationId id="{6D9F5132-1106-4271-BA14-F877E591BD1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00D3F2"/>
          </a:solidFill>
          <a:ln w="9525">
            <a:solidFill>
              <a:srgbClr val="00D3F2"/>
            </a:solidFill>
            <a:prstDash val="solid"/>
          </a:ln>
        </p:spPr>
      </p:sp>
      <p:sp>
        <p:nvSpPr>
          <p:cNvPr id="3" name="">
            <a:extLst>
              <a:ext uri="{FF2B5EF4-FFF2-40B4-BE49-F238E27FC236}">
                <ns2:creationId id="{A6FF16DD-4750-4E8F-8F98-705EFCDDB0E6}"/>
              </a:ext>
            </a:extLst>
          </p:cNvPr>
          <p:cNvSpPr>
            <a:spLocks noGrp="1"/>
          </p:cNvSpPr>
          <p:nvPr/>
        </p:nvSpPr>
        <p:spPr>
          <a:xfrm>
            <a:off x="7239000" y="-1238250"/>
            <a:ext cx="4953000" cy="4953000"/>
          </a:xfrm>
          <a:prstGeom prst="ellipse">
            <a:avLst/>
          </a:prstGeom>
          <a:solidFill>
            <a:srgbClr val="0F172B"/>
          </a:solidFill>
          <a:ln w="9525">
            <a:solidFill>
              <a:srgbClr val="0F172B"/>
            </a:solidFill>
            <a:prstDash val="solid"/>
          </a:ln>
        </p:spPr>
      </p:sp>
      <p:sp>
        <p:nvSpPr>
          <p:cNvPr id="4" name="">
            <a:extLst>
              <a:ext uri="{FF2B5EF4-FFF2-40B4-BE49-F238E27FC236}">
                <ns2:creationId id="{04217607-CFC5-461E-87D4-C088EB7DA587}"/>
              </a:ext>
            </a:extLst>
          </p:cNvPr>
          <p:cNvSpPr>
            <a:spLocks noGrp="1"/>
          </p:cNvSpPr>
          <p:nvPr/>
        </p:nvSpPr>
        <p:spPr>
          <a:xfrm>
            <a:off x="8953500" y="1428750"/>
            <a:ext cx="2095500" cy="2095500"/>
          </a:xfrm>
          <a:prstGeom prst="ellipse">
            <a:avLst/>
          </a:prstGeom>
          <a:solidFill>
            <a:srgbClr val="1D293D"/>
          </a:solidFill>
          <a:ln w="9525">
            <a:solidFill>
              <a:srgbClr val="1D293D"/>
            </a:solidFill>
            <a:prstDash val="solid"/>
          </a:ln>
        </p:spPr>
      </p:sp>
      <p:sp>
        <p:nvSpPr>
          <p:cNvPr id="5" name="">
            <a:extLst>
              <a:ext uri="{FF2B5EF4-FFF2-40B4-BE49-F238E27FC236}">
                <ns2:creationId id="{FAFAC768-02B5-4CC8-9189-7FB8EAC26B2E}"/>
              </a:ext>
            </a:extLst>
          </p:cNvPr>
          <p:cNvSpPr>
            <a:spLocks noGrp="1"/>
          </p:cNvSpPr>
          <p:nvPr/>
        </p:nvSpPr>
        <p:spPr>
          <a:xfrm>
            <a:off x="7620000" y="2190750"/>
            <a:ext cx="2952750" cy="2000250"/>
          </a:xfrm>
          <a:prstGeom prst="roundRect">
            <a:avLst>
              <a:gd name="adj" fmla="val 5714"/>
            </a:avLst>
          </a:prstGeom>
          <a:solidFill>
            <a:srgbClr val="0F172B"/>
          </a:solidFill>
          <a:ln w="9525">
            <a:solidFill>
              <a:srgbClr val="314158"/>
            </a:solidFill>
            <a:prstDash val="solid"/>
          </a:ln>
        </p:spPr>
      </p:sp>
      <p:sp>
        <p:nvSpPr>
          <p:cNvPr id="6" name="">
            <a:extLst>
              <a:ext uri="{FF2B5EF4-FFF2-40B4-BE49-F238E27FC236}">
                <ns2:creationId id="{3FED9D08-D235-48B4-B76E-87A0BD8F713D}"/>
              </a:ext>
            </a:extLst>
          </p:cNvPr>
          <p:cNvSpPr>
            <a:spLocks noGrp="1"/>
          </p:cNvSpPr>
          <p:nvPr/>
        </p:nvSpPr>
        <p:spPr>
          <a:xfrm>
            <a:off x="8210550" y="2476500"/>
            <a:ext cx="180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00D3F2"/>
                </a:solidFill>
              </a:defRPr>
            </a:pPr>
            <a:r>
              <a:rPr sz="1500" b="1">
                <a:solidFill>
                  <a:srgbClr val="00D3F2"/>
                </a:solidFill>
              </a:rPr>
              <a:t>3D Volume</a:t>
            </a:r>
          </a:p>
        </p:txBody>
      </p:sp>
      <p:sp>
        <p:nvSpPr>
          <p:cNvPr id="7" name="">
            <a:extLst>
              <a:ext uri="{FF2B5EF4-FFF2-40B4-BE49-F238E27FC236}">
                <ns2:creationId id="{76B1452F-5F25-408C-B2DB-6B673A4D7917}"/>
              </a:ext>
            </a:extLst>
          </p:cNvPr>
          <p:cNvSpPr>
            <a:spLocks noGrp="1"/>
          </p:cNvSpPr>
          <p:nvPr/>
        </p:nvSpPr>
        <p:spPr>
          <a:xfrm>
            <a:off x="7981950" y="2971800"/>
            <a:ext cx="1524000" cy="47625"/>
          </a:xfrm>
          <a:prstGeom prst="rect">
            <a:avLst/>
          </a:prstGeom>
          <a:solidFill>
            <a:srgbClr val="00A6F4"/>
          </a:solidFill>
          <a:ln w="9525">
            <a:solidFill>
              <a:srgbClr val="00A6F4"/>
            </a:solidFill>
            <a:prstDash val="solid"/>
          </a:ln>
        </p:spPr>
      </p:sp>
      <p:sp>
        <p:nvSpPr>
          <p:cNvPr id="8" name="">
            <a:extLst>
              <a:ext uri="{FF2B5EF4-FFF2-40B4-BE49-F238E27FC236}">
                <ns2:creationId id="{1A912F97-D712-4F91-980F-059D49EE340F}"/>
              </a:ext>
            </a:extLst>
          </p:cNvPr>
          <p:cNvSpPr>
            <a:spLocks noGrp="1"/>
          </p:cNvSpPr>
          <p:nvPr/>
        </p:nvSpPr>
        <p:spPr>
          <a:xfrm>
            <a:off x="8248650" y="2895600"/>
            <a:ext cx="1524000" cy="47625"/>
          </a:xfrm>
          <a:prstGeom prst="rect">
            <a:avLst/>
          </a:prstGeom>
          <a:solidFill>
            <a:srgbClr val="00D492"/>
          </a:solidFill>
          <a:ln w="9525">
            <a:solidFill>
              <a:srgbClr val="00D492"/>
            </a:solidFill>
            <a:prstDash val="solid"/>
          </a:ln>
        </p:spPr>
      </p:sp>
      <p:sp>
        <p:nvSpPr>
          <p:cNvPr id="9" name="">
            <a:extLst>
              <a:ext uri="{FF2B5EF4-FFF2-40B4-BE49-F238E27FC236}">
                <ns2:creationId id="{6756CA2A-EF81-4147-BA25-7B0E98670293}"/>
              </a:ext>
            </a:extLst>
          </p:cNvPr>
          <p:cNvSpPr>
            <a:spLocks noGrp="1"/>
          </p:cNvSpPr>
          <p:nvPr/>
        </p:nvSpPr>
        <p:spPr>
          <a:xfrm>
            <a:off x="8515350" y="2819400"/>
            <a:ext cx="1524000" cy="47625"/>
          </a:xfrm>
          <a:prstGeom prst="rect">
            <a:avLst/>
          </a:prstGeom>
          <a:solidFill>
            <a:srgbClr val="00A6F4"/>
          </a:solidFill>
          <a:ln w="9525">
            <a:solidFill>
              <a:srgbClr val="00A6F4"/>
            </a:solidFill>
            <a:prstDash val="solid"/>
          </a:ln>
        </p:spPr>
      </p:sp>
      <p:sp>
        <p:nvSpPr>
          <p:cNvPr id="10" name="">
            <a:extLst>
              <a:ext uri="{FF2B5EF4-FFF2-40B4-BE49-F238E27FC236}">
                <ns2:creationId id="{61612B43-484D-4136-BD46-53B635FF34F1}"/>
              </a:ext>
            </a:extLst>
          </p:cNvPr>
          <p:cNvSpPr>
            <a:spLocks noGrp="1"/>
          </p:cNvSpPr>
          <p:nvPr/>
        </p:nvSpPr>
        <p:spPr>
          <a:xfrm>
            <a:off x="8782050" y="2743200"/>
            <a:ext cx="1524000" cy="47625"/>
          </a:xfrm>
          <a:prstGeom prst="rect">
            <a:avLst/>
          </a:prstGeom>
          <a:solidFill>
            <a:srgbClr val="00D492"/>
          </a:solidFill>
          <a:ln w="9525">
            <a:solidFill>
              <a:srgbClr val="00D492"/>
            </a:solidFill>
            <a:prstDash val="solid"/>
          </a:ln>
        </p:spPr>
      </p:sp>
      <p:sp>
        <p:nvSpPr>
          <p:cNvPr id="11" name="">
            <a:extLst>
              <a:ext uri="{FF2B5EF4-FFF2-40B4-BE49-F238E27FC236}">
                <ns2:creationId id="{13C6E342-5D6D-4A3C-8B00-8AC71C8333A0}"/>
              </a:ext>
            </a:extLst>
          </p:cNvPr>
          <p:cNvSpPr>
            <a:spLocks noGrp="1"/>
          </p:cNvSpPr>
          <p:nvPr/>
        </p:nvSpPr>
        <p:spPr>
          <a:xfrm>
            <a:off x="9048750" y="2667000"/>
            <a:ext cx="1524000" cy="47625"/>
          </a:xfrm>
          <a:prstGeom prst="rect">
            <a:avLst/>
          </a:prstGeom>
          <a:solidFill>
            <a:srgbClr val="00A6F4"/>
          </a:solidFill>
          <a:ln w="9525">
            <a:solidFill>
              <a:srgbClr val="00A6F4"/>
            </a:solidFill>
            <a:prstDash val="solid"/>
          </a:ln>
        </p:spPr>
      </p:sp>
      <p:sp>
        <p:nvSpPr>
          <p:cNvPr id="12" name="">
            <a:extLst>
              <a:ext uri="{FF2B5EF4-FFF2-40B4-BE49-F238E27FC236}">
                <ns2:creationId id="{10F362AF-1D08-4A51-8DCC-030F01D1D6E0}"/>
              </a:ext>
            </a:extLst>
          </p:cNvPr>
          <p:cNvSpPr>
            <a:spLocks noGrp="1"/>
          </p:cNvSpPr>
          <p:nvPr/>
        </p:nvSpPr>
        <p:spPr>
          <a:xfrm>
            <a:off x="9315450" y="2590800"/>
            <a:ext cx="1524000" cy="47625"/>
          </a:xfrm>
          <a:prstGeom prst="rect">
            <a:avLst/>
          </a:prstGeom>
          <a:solidFill>
            <a:srgbClr val="00D492"/>
          </a:solidFill>
          <a:ln w="9525">
            <a:solidFill>
              <a:srgbClr val="00D492"/>
            </a:solidFill>
            <a:prstDash val="solid"/>
          </a:ln>
        </p:spPr>
      </p:sp>
      <p:sp>
        <p:nvSpPr>
          <p:cNvPr id="13" name="">
            <a:extLst>
              <a:ext uri="{FF2B5EF4-FFF2-40B4-BE49-F238E27FC236}">
                <ns2:creationId id="{9C786CBC-F787-4528-B075-6E39341B72C7}"/>
              </a:ext>
            </a:extLst>
          </p:cNvPr>
          <p:cNvSpPr>
            <a:spLocks noGrp="1"/>
          </p:cNvSpPr>
          <p:nvPr/>
        </p:nvSpPr>
        <p:spPr>
          <a:xfrm>
            <a:off x="9582150" y="2514600"/>
            <a:ext cx="1524000" cy="47625"/>
          </a:xfrm>
          <a:prstGeom prst="rect">
            <a:avLst/>
          </a:prstGeom>
          <a:solidFill>
            <a:srgbClr val="00A6F4"/>
          </a:solidFill>
          <a:ln w="9525">
            <a:solidFill>
              <a:srgbClr val="00A6F4"/>
            </a:solidFill>
            <a:prstDash val="solid"/>
          </a:ln>
        </p:spPr>
      </p:sp>
      <p:sp>
        <p:nvSpPr>
          <p:cNvPr id="14" name="">
            <a:extLst>
              <a:ext uri="{FF2B5EF4-FFF2-40B4-BE49-F238E27FC236}">
                <ns2:creationId id="{1EDF15B1-C7B7-42DD-BF23-89EE47B1FD0D}"/>
              </a:ext>
            </a:extLst>
          </p:cNvPr>
          <p:cNvSpPr>
            <a:spLocks noGrp="1"/>
          </p:cNvSpPr>
          <p:nvPr/>
        </p:nvSpPr>
        <p:spPr>
          <a:xfrm>
            <a:off x="7886700" y="3638550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E2E8F0"/>
                </a:solidFill>
              </a:defRPr>
            </a:pPr>
            <a:r>
              <a:rPr sz="1200" b="1">
                <a:solidFill>
                  <a:srgbClr val="E2E8F0"/>
                </a:solidFill>
              </a:rPr>
              <a:t>RAG + Imaging + Segmentation</a:t>
            </a:r>
          </a:p>
        </p:txBody>
      </p:sp>
      <p:sp>
        <p:nvSpPr>
          <p:cNvPr id="15" name="">
            <a:extLst>
              <a:ext uri="{FF2B5EF4-FFF2-40B4-BE49-F238E27FC236}">
                <ns2:creationId id="{AE8C4B3E-FA7D-4460-A7DE-6DB0955047A8}"/>
              </a:ext>
            </a:extLst>
          </p:cNvPr>
          <p:cNvSpPr>
            <a:spLocks noGrp="1"/>
          </p:cNvSpPr>
          <p:nvPr/>
        </p:nvSpPr>
        <p:spPr>
          <a:xfrm>
            <a:off x="857250" y="1219200"/>
            <a:ext cx="666750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4500" b="1">
                <a:solidFill>
                  <a:srgbClr val="FFFFFF"/>
                </a:solidFill>
              </a:defRPr>
            </a:pPr>
            <a:r>
              <a:rPr sz="4500" b="1">
                <a:solidFill>
                  <a:srgbClr val="FFFFFF"/>
                </a:solidFill>
              </a:rPr>
              <a:t>3D Medical Image</a:t>
            </a:r>
          </a:p>
          <a:p>
            <a:pPr algn="l">
              <a:defRPr sz="4500" b="1">
                <a:solidFill>
                  <a:srgbClr val="FFFFFF"/>
                </a:solidFill>
              </a:defRPr>
            </a:pPr>
            <a:r>
              <a:rPr sz="4500" b="1">
                <a:solidFill>
                  <a:srgbClr val="FFFFFF"/>
                </a:solidFill>
              </a:rPr>
              <a:t>Intelligent Agent</a:t>
            </a:r>
          </a:p>
        </p:txBody>
      </p:sp>
      <p:sp>
        <p:nvSpPr>
          <p:cNvPr id="16" name="">
            <a:extLst>
              <a:ext uri="{FF2B5EF4-FFF2-40B4-BE49-F238E27FC236}">
                <ns2:creationId id="{961F3AD1-39DD-424A-A2F3-F0B27CCF03AE}"/>
              </a:ext>
            </a:extLst>
          </p:cNvPr>
          <p:cNvSpPr>
            <a:spLocks noGrp="1"/>
          </p:cNvSpPr>
          <p:nvPr/>
        </p:nvSpPr>
        <p:spPr>
          <a:xfrm>
            <a:off x="895350" y="2914650"/>
            <a:ext cx="65722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E2E8F0"/>
                </a:solidFill>
              </a:defRPr>
            </a:pPr>
            <a:r>
              <a:rPr sz="1650" b="0">
                <a:solidFill>
                  <a:srgbClr val="E2E8F0"/>
                </a:solidFill>
              </a:rPr>
              <a:t>A local, code-driven assistant for medical knowledge QA, NIfTI preprocessing, segmentation visualization, Dice/IoU evaluation, and MedSAM-based inference.</a:t>
            </a:r>
          </a:p>
        </p:txBody>
      </p:sp>
      <p:sp>
        <p:nvSpPr>
          <p:cNvPr id="17" name="">
            <a:extLst>
              <a:ext uri="{FF2B5EF4-FFF2-40B4-BE49-F238E27FC236}">
                <ns2:creationId id="{D3447B58-622D-4C7A-8ACE-C5A543DB4279}"/>
              </a:ext>
            </a:extLst>
          </p:cNvPr>
          <p:cNvSpPr>
            <a:spLocks noGrp="1"/>
          </p:cNvSpPr>
          <p:nvPr/>
        </p:nvSpPr>
        <p:spPr>
          <a:xfrm>
            <a:off x="895350" y="4286250"/>
            <a:ext cx="2324100" cy="1200150"/>
          </a:xfrm>
          <a:prstGeom prst="roundRect">
            <a:avLst>
              <a:gd name="adj" fmla="val 9524"/>
            </a:avLst>
          </a:prstGeom>
          <a:solidFill>
            <a:srgbClr val="0F172B"/>
          </a:solidFill>
          <a:ln w="9525">
            <a:solidFill>
              <a:srgbClr val="314158"/>
            </a:solidFill>
            <a:prstDash val="solid"/>
          </a:ln>
        </p:spPr>
      </p:sp>
      <p:sp>
        <p:nvSpPr>
          <p:cNvPr id="18" name="">
            <a:extLst>
              <a:ext uri="{FF2B5EF4-FFF2-40B4-BE49-F238E27FC236}">
                <ns2:creationId id="{85EB3886-73FE-470D-A6A7-F9A6668253EA}"/>
              </a:ext>
            </a:extLst>
          </p:cNvPr>
          <p:cNvSpPr>
            <a:spLocks noGrp="1"/>
          </p:cNvSpPr>
          <p:nvPr/>
        </p:nvSpPr>
        <p:spPr>
          <a:xfrm>
            <a:off x="1104900" y="4495800"/>
            <a:ext cx="438150" cy="38100"/>
          </a:xfrm>
          <a:prstGeom prst="rect">
            <a:avLst/>
          </a:prstGeom>
          <a:solidFill>
            <a:srgbClr val="00D3F2"/>
          </a:solidFill>
          <a:ln w="9525">
            <a:solidFill>
              <a:srgbClr val="00D3F2"/>
            </a:solidFill>
            <a:prstDash val="solid"/>
          </a:ln>
        </p:spPr>
      </p:sp>
      <p:sp>
        <p:nvSpPr>
          <p:cNvPr id="19" name="">
            <a:extLst>
              <a:ext uri="{FF2B5EF4-FFF2-40B4-BE49-F238E27FC236}">
                <ns2:creationId id="{3F3F8047-F0EE-45AF-8AF3-763CD2FF5F8F}"/>
              </a:ext>
            </a:extLst>
          </p:cNvPr>
          <p:cNvSpPr>
            <a:spLocks noGrp="1"/>
          </p:cNvSpPr>
          <p:nvPr/>
        </p:nvSpPr>
        <p:spPr>
          <a:xfrm>
            <a:off x="1104900" y="4667250"/>
            <a:ext cx="1809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00D3F2"/>
                </a:solidFill>
              </a:defRPr>
            </a:pPr>
            <a:r>
              <a:rPr sz="2850" b="1">
                <a:solidFill>
                  <a:srgbClr val="00D3F2"/>
                </a:solidFill>
              </a:rPr>
              <a:t>75</a:t>
            </a:r>
          </a:p>
        </p:txBody>
      </p:sp>
      <p:sp>
        <p:nvSpPr>
          <p:cNvPr id="20" name="">
            <a:extLst>
              <a:ext uri="{FF2B5EF4-FFF2-40B4-BE49-F238E27FC236}">
                <ns2:creationId id="{8EC53023-3474-4212-AB44-7FA2F02FD269}"/>
              </a:ext>
            </a:extLst>
          </p:cNvPr>
          <p:cNvSpPr>
            <a:spLocks noGrp="1"/>
          </p:cNvSpPr>
          <p:nvPr/>
        </p:nvSpPr>
        <p:spPr>
          <a:xfrm>
            <a:off x="1123950" y="5124450"/>
            <a:ext cx="1809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E2E8F0"/>
                </a:solidFill>
              </a:defRPr>
            </a:pPr>
            <a:r>
              <a:rPr sz="1125" b="1">
                <a:solidFill>
                  <a:srgbClr val="E2E8F0"/>
                </a:solidFill>
              </a:rPr>
              <a:t>knowledge assets</a:t>
            </a:r>
          </a:p>
        </p:txBody>
      </p:sp>
      <p:sp>
        <p:nvSpPr>
          <p:cNvPr id="21" name="">
            <a:extLst>
              <a:ext uri="{FF2B5EF4-FFF2-40B4-BE49-F238E27FC236}">
                <ns2:creationId id="{72D62DA2-86AC-431F-8ACE-0B8A1E596C43}"/>
              </a:ext>
            </a:extLst>
          </p:cNvPr>
          <p:cNvSpPr>
            <a:spLocks noGrp="1"/>
          </p:cNvSpPr>
          <p:nvPr/>
        </p:nvSpPr>
        <p:spPr>
          <a:xfrm>
            <a:off x="3486150" y="4286250"/>
            <a:ext cx="2324100" cy="1200150"/>
          </a:xfrm>
          <a:prstGeom prst="roundRect">
            <a:avLst>
              <a:gd name="adj" fmla="val 9524"/>
            </a:avLst>
          </a:prstGeom>
          <a:solidFill>
            <a:srgbClr val="0F172B"/>
          </a:solidFill>
          <a:ln w="9525">
            <a:solidFill>
              <a:srgbClr val="314158"/>
            </a:solidFill>
            <a:prstDash val="solid"/>
          </a:ln>
        </p:spPr>
      </p:sp>
      <p:sp>
        <p:nvSpPr>
          <p:cNvPr id="22" name="">
            <a:extLst>
              <a:ext uri="{FF2B5EF4-FFF2-40B4-BE49-F238E27FC236}">
                <ns2:creationId id="{D7277078-1562-4697-95BD-734ED8499016}"/>
              </a:ext>
            </a:extLst>
          </p:cNvPr>
          <p:cNvSpPr>
            <a:spLocks noGrp="1"/>
          </p:cNvSpPr>
          <p:nvPr/>
        </p:nvSpPr>
        <p:spPr>
          <a:xfrm>
            <a:off x="3695700" y="4495800"/>
            <a:ext cx="438150" cy="38100"/>
          </a:xfrm>
          <a:prstGeom prst="rect">
            <a:avLst/>
          </a:prstGeom>
          <a:solidFill>
            <a:srgbClr val="00D492"/>
          </a:solidFill>
          <a:ln w="9525">
            <a:solidFill>
              <a:srgbClr val="00D492"/>
            </a:solidFill>
            <a:prstDash val="solid"/>
          </a:ln>
        </p:spPr>
      </p:sp>
      <p:sp>
        <p:nvSpPr>
          <p:cNvPr id="23" name="">
            <a:extLst>
              <a:ext uri="{FF2B5EF4-FFF2-40B4-BE49-F238E27FC236}">
                <ns2:creationId id="{21DF2671-EFB4-43D8-833C-AF0361BD1BA8}"/>
              </a:ext>
            </a:extLst>
          </p:cNvPr>
          <p:cNvSpPr>
            <a:spLocks noGrp="1"/>
          </p:cNvSpPr>
          <p:nvPr/>
        </p:nvSpPr>
        <p:spPr>
          <a:xfrm>
            <a:off x="3695700" y="4667250"/>
            <a:ext cx="1809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00D492"/>
                </a:solidFill>
              </a:defRPr>
            </a:pPr>
            <a:r>
              <a:rPr sz="2850" b="1">
                <a:solidFill>
                  <a:srgbClr val="00D492"/>
                </a:solidFill>
              </a:rPr>
              <a:t>81</a:t>
            </a:r>
          </a:p>
        </p:txBody>
      </p:sp>
      <p:sp>
        <p:nvSpPr>
          <p:cNvPr id="24" name="">
            <a:extLst>
              <a:ext uri="{FF2B5EF4-FFF2-40B4-BE49-F238E27FC236}">
                <ns2:creationId id="{E6D262FE-0A28-4F7D-A55A-32D4FD0C924F}"/>
              </a:ext>
            </a:extLst>
          </p:cNvPr>
          <p:cNvSpPr>
            <a:spLocks noGrp="1"/>
          </p:cNvSpPr>
          <p:nvPr/>
        </p:nvSpPr>
        <p:spPr>
          <a:xfrm>
            <a:off x="3714750" y="5124450"/>
            <a:ext cx="1809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E2E8F0"/>
                </a:solidFill>
              </a:defRPr>
            </a:pPr>
            <a:r>
              <a:rPr sz="1125" b="1">
                <a:solidFill>
                  <a:srgbClr val="E2E8F0"/>
                </a:solidFill>
              </a:rPr>
              <a:t>QA benchmark items</a:t>
            </a:r>
          </a:p>
        </p:txBody>
      </p:sp>
      <p:sp>
        <p:nvSpPr>
          <p:cNvPr id="25" name="">
            <a:extLst>
              <a:ext uri="{FF2B5EF4-FFF2-40B4-BE49-F238E27FC236}">
                <ns2:creationId id="{3D73F50A-93F0-475C-8082-2D76658A29C0}"/>
              </a:ext>
            </a:extLst>
          </p:cNvPr>
          <p:cNvSpPr>
            <a:spLocks noGrp="1"/>
          </p:cNvSpPr>
          <p:nvPr/>
        </p:nvSpPr>
        <p:spPr>
          <a:xfrm>
            <a:off x="6076950" y="4286250"/>
            <a:ext cx="2324100" cy="1200150"/>
          </a:xfrm>
          <a:prstGeom prst="roundRect">
            <a:avLst>
              <a:gd name="adj" fmla="val 9524"/>
            </a:avLst>
          </a:prstGeom>
          <a:solidFill>
            <a:srgbClr val="0F172B"/>
          </a:solidFill>
          <a:ln w="9525">
            <a:solidFill>
              <a:srgbClr val="314158"/>
            </a:solidFill>
            <a:prstDash val="solid"/>
          </a:ln>
        </p:spPr>
      </p:sp>
      <p:sp>
        <p:nvSpPr>
          <p:cNvPr id="26" name="">
            <a:extLst>
              <a:ext uri="{FF2B5EF4-FFF2-40B4-BE49-F238E27FC236}">
                <ns2:creationId id="{4BA085DA-EA4E-40ED-A944-F817D29BC4F3}"/>
              </a:ext>
            </a:extLst>
          </p:cNvPr>
          <p:cNvSpPr>
            <a:spLocks noGrp="1"/>
          </p:cNvSpPr>
          <p:nvPr/>
        </p:nvSpPr>
        <p:spPr>
          <a:xfrm>
            <a:off x="6286500" y="4495800"/>
            <a:ext cx="438150" cy="38100"/>
          </a:xfrm>
          <a:prstGeom prst="rect">
            <a:avLst/>
          </a:prstGeom>
          <a:solidFill>
            <a:srgbClr val="A684FF"/>
          </a:solidFill>
          <a:ln w="9525">
            <a:solidFill>
              <a:srgbClr val="A684FF"/>
            </a:solidFill>
            <a:prstDash val="solid"/>
          </a:ln>
        </p:spPr>
      </p:sp>
      <p:sp>
        <p:nvSpPr>
          <p:cNvPr id="27" name="">
            <a:extLst>
              <a:ext uri="{FF2B5EF4-FFF2-40B4-BE49-F238E27FC236}">
                <ns2:creationId id="{9150A600-ABE8-4C54-B984-82AC639313FD}"/>
              </a:ext>
            </a:extLst>
          </p:cNvPr>
          <p:cNvSpPr>
            <a:spLocks noGrp="1"/>
          </p:cNvSpPr>
          <p:nvPr/>
        </p:nvSpPr>
        <p:spPr>
          <a:xfrm>
            <a:off x="6286500" y="4667250"/>
            <a:ext cx="1809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A684FF"/>
                </a:solidFill>
              </a:defRPr>
            </a:pPr>
            <a:r>
              <a:rPr sz="2850" b="1">
                <a:solidFill>
                  <a:srgbClr val="A684FF"/>
                </a:solidFill>
              </a:rPr>
              <a:t>277</a:t>
            </a:r>
          </a:p>
        </p:txBody>
      </p:sp>
      <p:sp>
        <p:nvSpPr>
          <p:cNvPr id="28" name="">
            <a:extLst>
              <a:ext uri="{FF2B5EF4-FFF2-40B4-BE49-F238E27FC236}">
                <ns2:creationId id="{C6CC3894-1A84-43AC-873C-9EAC8FB50EAD}"/>
              </a:ext>
            </a:extLst>
          </p:cNvPr>
          <p:cNvSpPr>
            <a:spLocks noGrp="1"/>
          </p:cNvSpPr>
          <p:nvPr/>
        </p:nvSpPr>
        <p:spPr>
          <a:xfrm>
            <a:off x="6305550" y="5124450"/>
            <a:ext cx="1809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E2E8F0"/>
                </a:solidFill>
              </a:defRPr>
            </a:pPr>
            <a:r>
              <a:rPr sz="1125" b="1">
                <a:solidFill>
                  <a:srgbClr val="E2E8F0"/>
                </a:solidFill>
              </a:rPr>
              <a:t>patient folders</a:t>
            </a:r>
          </a:p>
        </p:txBody>
      </p:sp>
      <p:sp>
        <p:nvSpPr>
          <p:cNvPr id="29" name="">
            <a:extLst>
              <a:ext uri="{FF2B5EF4-FFF2-40B4-BE49-F238E27FC236}">
                <ns2:creationId id="{83FCFA6E-09E2-41CD-A428-48E7DEA2EBEF}"/>
              </a:ext>
            </a:extLst>
          </p:cNvPr>
          <p:cNvSpPr>
            <a:spLocks noGrp="1"/>
          </p:cNvSpPr>
          <p:nvPr/>
        </p:nvSpPr>
        <p:spPr>
          <a:xfrm>
            <a:off x="8667750" y="4286250"/>
            <a:ext cx="2324100" cy="1200150"/>
          </a:xfrm>
          <a:prstGeom prst="roundRect">
            <a:avLst>
              <a:gd name="adj" fmla="val 9524"/>
            </a:avLst>
          </a:prstGeom>
          <a:solidFill>
            <a:srgbClr val="0F172B"/>
          </a:solidFill>
          <a:ln w="9525">
            <a:solidFill>
              <a:srgbClr val="314158"/>
            </a:solidFill>
            <a:prstDash val="solid"/>
          </a:ln>
        </p:spPr>
      </p:sp>
      <p:sp>
        <p:nvSpPr>
          <p:cNvPr id="30" name="">
            <a:extLst>
              <a:ext uri="{FF2B5EF4-FFF2-40B4-BE49-F238E27FC236}">
                <ns2:creationId id="{6FD4A9F2-4C89-4758-9A52-24660A899D93}"/>
              </a:ext>
            </a:extLst>
          </p:cNvPr>
          <p:cNvSpPr>
            <a:spLocks noGrp="1"/>
          </p:cNvSpPr>
          <p:nvPr/>
        </p:nvSpPr>
        <p:spPr>
          <a:xfrm>
            <a:off x="8877300" y="4495800"/>
            <a:ext cx="438150" cy="38100"/>
          </a:xfrm>
          <a:prstGeom prst="rect">
            <a:avLst/>
          </a:prstGeom>
          <a:solidFill>
            <a:srgbClr val="FFD230"/>
          </a:solidFill>
          <a:ln w="9525">
            <a:solidFill>
              <a:srgbClr val="FFD230"/>
            </a:solidFill>
            <a:prstDash val="solid"/>
          </a:ln>
        </p:spPr>
      </p:sp>
      <p:sp>
        <p:nvSpPr>
          <p:cNvPr id="31" name="">
            <a:extLst>
              <a:ext uri="{FF2B5EF4-FFF2-40B4-BE49-F238E27FC236}">
                <ns2:creationId id="{365CBB18-E3AA-4418-864C-5BA1A22DDE6E}"/>
              </a:ext>
            </a:extLst>
          </p:cNvPr>
          <p:cNvSpPr>
            <a:spLocks noGrp="1"/>
          </p:cNvSpPr>
          <p:nvPr/>
        </p:nvSpPr>
        <p:spPr>
          <a:xfrm>
            <a:off x="8877300" y="4667250"/>
            <a:ext cx="1809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FFD230"/>
                </a:solidFill>
              </a:defRPr>
            </a:pPr>
            <a:r>
              <a:rPr sz="2850" b="1">
                <a:solidFill>
                  <a:srgbClr val="FFD230"/>
                </a:solidFill>
              </a:rPr>
              <a:t>155</a:t>
            </a:r>
          </a:p>
        </p:txBody>
      </p:sp>
      <p:sp>
        <p:nvSpPr>
          <p:cNvPr id="32" name="">
            <a:extLst>
              <a:ext uri="{FF2B5EF4-FFF2-40B4-BE49-F238E27FC236}">
                <ns2:creationId id="{5C16A38E-ACE3-442C-AA8B-3D0EA792AFFD}"/>
              </a:ext>
            </a:extLst>
          </p:cNvPr>
          <p:cNvSpPr>
            <a:spLocks noGrp="1"/>
          </p:cNvSpPr>
          <p:nvPr/>
        </p:nvSpPr>
        <p:spPr>
          <a:xfrm>
            <a:off x="8896350" y="5124450"/>
            <a:ext cx="1809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E2E8F0"/>
                </a:solidFill>
              </a:defRPr>
            </a:pPr>
            <a:r>
              <a:rPr sz="1125" b="1">
                <a:solidFill>
                  <a:srgbClr val="E2E8F0"/>
                </a:solidFill>
              </a:rPr>
              <a:t>complete cases</a:t>
            </a:r>
          </a:p>
        </p:txBody>
      </p:sp>
    </p:spTree>
    <p:extLst>
      <p:ext uri="{BB962C8B-B14F-4D97-AF65-F5344CB8AC3E}">
        <ns3:creationId val="956626985"/>
      </p:ext>
    </p:extLst>
  </p:cSld>
</p:sld>
</file>

<file path=ppt/slides/slide2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020618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" name="">
            <a:extLst>
              <a:ext uri="{FF2B5EF4-FFF2-40B4-BE49-F238E27FC236}">
                <ns2:creationId id="{FDF7488F-E06F-4444-9A76-1C523768328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20618"/>
          </a:solidFill>
          <a:ln w="9525">
            <a:solidFill>
              <a:srgbClr val="020618"/>
            </a:solidFill>
            <a:prstDash val="solid"/>
          </a:ln>
        </p:spPr>
      </p:sp>
      <p:sp>
        <p:nvSpPr>
          <p:cNvPr id="2" name="">
            <a:extLst>
              <a:ext uri="{FF2B5EF4-FFF2-40B4-BE49-F238E27FC236}">
                <ns2:creationId id="{601E0019-A56E-4958-82B3-F8E8ABCA942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47625"/>
          </a:xfrm>
          <a:prstGeom prst="rect">
            <a:avLst/>
          </a:prstGeom>
          <a:solidFill>
            <a:srgbClr val="00D3F2"/>
          </a:solidFill>
          <a:ln w="9525">
            <a:solidFill>
              <a:srgbClr val="00D3F2"/>
            </a:solidFill>
            <a:prstDash val="solid"/>
          </a:ln>
        </p:spPr>
      </p:sp>
      <p:sp>
        <p:nvSpPr>
          <p:cNvPr id="3" name="">
            <a:extLst>
              <a:ext uri="{FF2B5EF4-FFF2-40B4-BE49-F238E27FC236}">
                <ns2:creationId id="{D99D77FD-6A7B-46A2-BCEA-12805FE17F9A}"/>
              </a:ext>
            </a:extLst>
          </p:cNvPr>
          <p:cNvSpPr>
            <a:spLocks noGrp="1"/>
          </p:cNvSpPr>
          <p:nvPr/>
        </p:nvSpPr>
        <p:spPr>
          <a:xfrm>
            <a:off x="0" y="6810375"/>
            <a:ext cx="12192000" cy="47625"/>
          </a:xfrm>
          <a:prstGeom prst="rect">
            <a:avLst/>
          </a:prstGeom>
          <a:solidFill>
            <a:srgbClr val="1D293D"/>
          </a:solidFill>
          <a:ln w="9525">
            <a:solidFill>
              <a:srgbClr val="1D293D"/>
            </a:solidFill>
            <a:prstDash val="solid"/>
          </a:ln>
        </p:spPr>
      </p:sp>
      <p:sp>
        <p:nvSpPr>
          <p:cNvPr id="4" name="">
            <a:extLst>
              <a:ext uri="{FF2B5EF4-FFF2-40B4-BE49-F238E27FC236}">
                <ns2:creationId id="{E1FC955B-53DB-431A-A58D-267C64461E5D}"/>
              </a:ext>
            </a:extLst>
          </p:cNvPr>
          <p:cNvSpPr>
            <a:spLocks noGrp="1"/>
          </p:cNvSpPr>
          <p:nvPr/>
        </p:nvSpPr>
        <p:spPr>
          <a:xfrm>
            <a:off x="8858250" y="-1619250"/>
            <a:ext cx="4095750" cy="4095750"/>
          </a:xfrm>
          <a:prstGeom prst="ellipse">
            <a:avLst/>
          </a:prstGeom>
          <a:solidFill>
            <a:srgbClr val="0F172B"/>
          </a:solidFill>
          <a:ln w="9525">
            <a:solidFill>
              <a:srgbClr val="0F172B"/>
            </a:solidFill>
            <a:prstDash val="solid"/>
          </a:ln>
        </p:spPr>
      </p:sp>
      <p:sp>
        <p:nvSpPr>
          <p:cNvPr id="5" name="">
            <a:extLst>
              <a:ext uri="{FF2B5EF4-FFF2-40B4-BE49-F238E27FC236}">
                <ns2:creationId id="{6927B266-703B-4A93-A74E-CE623448FB20}"/>
              </a:ext>
            </a:extLst>
          </p:cNvPr>
          <p:cNvSpPr>
            <a:spLocks noGrp="1"/>
          </p:cNvSpPr>
          <p:nvPr/>
        </p:nvSpPr>
        <p:spPr>
          <a:xfrm>
            <a:off x="-2000250" y="4476750"/>
            <a:ext cx="3429000" cy="3429000"/>
          </a:xfrm>
          <a:prstGeom prst="ellipse">
            <a:avLst/>
          </a:prstGeom>
          <a:solidFill>
            <a:srgbClr val="0F172B"/>
          </a:solidFill>
          <a:ln w="9525">
            <a:solidFill>
              <a:srgbClr val="0F172B"/>
            </a:solidFill>
            <a:prstDash val="solid"/>
          </a:ln>
        </p:spPr>
      </p:sp>
      <p:sp>
        <p:nvSpPr>
          <p:cNvPr id="6" name="">
            <a:extLst>
              <a:ext uri="{FF2B5EF4-FFF2-40B4-BE49-F238E27FC236}">
                <ns2:creationId id="{596775BD-4FBF-4C73-BF30-6E4EF5687159}"/>
              </a:ext>
            </a:extLst>
          </p:cNvPr>
          <p:cNvSpPr>
            <a:spLocks noGrp="1"/>
          </p:cNvSpPr>
          <p:nvPr/>
        </p:nvSpPr>
        <p:spPr>
          <a:xfrm>
            <a:off x="685800" y="323850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00D3F2"/>
                </a:solidFill>
              </a:defRPr>
            </a:pPr>
            <a:r>
              <a:rPr sz="900" b="1">
                <a:solidFill>
                  <a:srgbClr val="00D3F2"/>
                </a:solidFill>
              </a:rPr>
              <a:t>PROJECT SNAPSHOT</a:t>
            </a:r>
          </a:p>
        </p:txBody>
      </p:sp>
      <p:sp>
        <p:nvSpPr>
          <p:cNvPr id="7" name="">
            <a:extLst>
              <a:ext uri="{FF2B5EF4-FFF2-40B4-BE49-F238E27FC236}">
                <ns2:creationId id="{BA47740D-9050-4A21-B8DE-C2697DC77036}"/>
              </a:ext>
            </a:extLst>
          </p:cNvPr>
          <p:cNvSpPr>
            <a:spLocks noGrp="1"/>
          </p:cNvSpPr>
          <p:nvPr/>
        </p:nvSpPr>
        <p:spPr>
          <a:xfrm>
            <a:off x="11068050" y="32385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90A1B9"/>
                </a:solidFill>
              </a:defRPr>
            </a:pPr>
            <a:r>
              <a:rPr sz="900" b="1">
                <a:solidFill>
                  <a:srgbClr val="90A1B9"/>
                </a:solidFill>
              </a:rPr>
              <a:t>02</a:t>
            </a:r>
          </a:p>
        </p:txBody>
      </p:sp>
      <p:sp>
        <p:nvSpPr>
          <p:cNvPr id="8" name="">
            <a:extLst>
              <a:ext uri="{FF2B5EF4-FFF2-40B4-BE49-F238E27FC236}">
                <ns2:creationId id="{8F7F1B49-125A-4E66-969F-310E7BF4327F}"/>
              </a:ext>
            </a:extLst>
          </p:cNvPr>
          <p:cNvSpPr>
            <a:spLocks noGrp="1"/>
          </p:cNvSpPr>
          <p:nvPr/>
        </p:nvSpPr>
        <p:spPr>
          <a:xfrm>
            <a:off x="685800" y="685800"/>
            <a:ext cx="8953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What the final codebase delivers</a:t>
            </a:r>
          </a:p>
        </p:txBody>
      </p:sp>
      <p:sp>
        <p:nvSpPr>
          <p:cNvPr id="9" name="">
            <a:extLst>
              <a:ext uri="{FF2B5EF4-FFF2-40B4-BE49-F238E27FC236}">
                <ns2:creationId id="{F5969C25-426E-405C-8475-7D42964315F2}"/>
              </a:ext>
            </a:extLst>
          </p:cNvPr>
          <p:cNvSpPr>
            <a:spLocks noGrp="1"/>
          </p:cNvSpPr>
          <p:nvPr/>
        </p:nvSpPr>
        <p:spPr>
          <a:xfrm>
            <a:off x="685800" y="1257300"/>
            <a:ext cx="857250" cy="38100"/>
          </a:xfrm>
          <a:prstGeom prst="rect">
            <a:avLst/>
          </a:prstGeom>
          <a:solidFill>
            <a:srgbClr val="00D3F2"/>
          </a:solidFill>
          <a:ln w="9525">
            <a:solidFill>
              <a:srgbClr val="00D3F2"/>
            </a:solidFill>
            <a:prstDash val="solid"/>
          </a:ln>
        </p:spPr>
      </p:sp>
      <p:sp>
        <p:nvSpPr>
          <p:cNvPr id="10" name="">
            <a:extLst>
              <a:ext uri="{FF2B5EF4-FFF2-40B4-BE49-F238E27FC236}">
                <ns2:creationId id="{96680106-B8D9-4382-B458-B05F8F669680}"/>
              </a:ext>
            </a:extLst>
          </p:cNvPr>
          <p:cNvSpPr>
            <a:spLocks noGrp="1"/>
          </p:cNvSpPr>
          <p:nvPr/>
        </p:nvSpPr>
        <p:spPr>
          <a:xfrm>
            <a:off x="685800" y="1466850"/>
            <a:ext cx="8858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E2E8F0"/>
                </a:solidFill>
              </a:defRPr>
            </a:pPr>
            <a:r>
              <a:rPr sz="1575" b="0">
                <a:solidFill>
                  <a:srgbClr val="E2E8F0"/>
                </a:solidFill>
              </a:rPr>
              <a:t>The system is designed as a complete local workflow rather than a single model demo.</a:t>
            </a:r>
          </a:p>
        </p:txBody>
      </p:sp>
      <p:sp>
        <p:nvSpPr>
          <p:cNvPr id="11" name="">
            <a:extLst>
              <a:ext uri="{FF2B5EF4-FFF2-40B4-BE49-F238E27FC236}">
                <ns2:creationId id="{186FE92D-D0AE-4CCB-8DF7-C4777D28CFA3}"/>
              </a:ext>
            </a:extLst>
          </p:cNvPr>
          <p:cNvSpPr>
            <a:spLocks noGrp="1"/>
          </p:cNvSpPr>
          <p:nvPr/>
        </p:nvSpPr>
        <p:spPr>
          <a:xfrm>
            <a:off x="685800" y="2266950"/>
            <a:ext cx="2400300" cy="2190750"/>
          </a:xfrm>
          <a:prstGeom prst="roundRect">
            <a:avLst>
              <a:gd name="adj" fmla="val 5217"/>
            </a:avLst>
          </a:prstGeom>
          <a:solidFill>
            <a:srgbClr val="0F172B"/>
          </a:solidFill>
          <a:ln w="9525">
            <a:solidFill>
              <a:srgbClr val="314158"/>
            </a:solidFill>
            <a:prstDash val="solid"/>
          </a:ln>
        </p:spPr>
      </p:sp>
      <p:sp>
        <p:nvSpPr>
          <p:cNvPr id="12" name="">
            <a:extLst>
              <a:ext uri="{FF2B5EF4-FFF2-40B4-BE49-F238E27FC236}">
                <ns2:creationId id="{F5336C36-FD76-4C3D-9B3D-B5FB7FA2D5A5}"/>
              </a:ext>
            </a:extLst>
          </p:cNvPr>
          <p:cNvSpPr>
            <a:spLocks noGrp="1"/>
          </p:cNvSpPr>
          <p:nvPr/>
        </p:nvSpPr>
        <p:spPr>
          <a:xfrm>
            <a:off x="895350" y="2495550"/>
            <a:ext cx="457200" cy="38100"/>
          </a:xfrm>
          <a:prstGeom prst="rect">
            <a:avLst/>
          </a:prstGeom>
          <a:solidFill>
            <a:srgbClr val="00D3F2"/>
          </a:solidFill>
          <a:ln w="9525">
            <a:solidFill>
              <a:srgbClr val="00D3F2"/>
            </a:solidFill>
            <a:prstDash val="solid"/>
          </a:ln>
        </p:spPr>
      </p:sp>
      <p:sp>
        <p:nvSpPr>
          <p:cNvPr id="13" name="">
            <a:extLst>
              <a:ext uri="{FF2B5EF4-FFF2-40B4-BE49-F238E27FC236}">
                <ns2:creationId id="{0768434E-BF9F-4334-AD7F-BABBC4888703}"/>
              </a:ext>
            </a:extLst>
          </p:cNvPr>
          <p:cNvSpPr>
            <a:spLocks noGrp="1"/>
          </p:cNvSpPr>
          <p:nvPr/>
        </p:nvSpPr>
        <p:spPr>
          <a:xfrm>
            <a:off x="895350" y="2800350"/>
            <a:ext cx="19812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Knowledge QA</a:t>
            </a:r>
          </a:p>
        </p:txBody>
      </p:sp>
      <p:sp>
        <p:nvSpPr>
          <p:cNvPr id="14" name="">
            <a:extLst>
              <a:ext uri="{FF2B5EF4-FFF2-40B4-BE49-F238E27FC236}">
                <ns2:creationId id="{D9DE8134-2459-4315-9A89-7FD0A8E6B8C9}"/>
              </a:ext>
            </a:extLst>
          </p:cNvPr>
          <p:cNvSpPr>
            <a:spLocks noGrp="1"/>
          </p:cNvSpPr>
          <p:nvPr/>
        </p:nvSpPr>
        <p:spPr>
          <a:xfrm>
            <a:off x="895350" y="3314700"/>
            <a:ext cx="19431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E2E8F0"/>
                </a:solidFill>
              </a:defRPr>
            </a:pPr>
            <a:r>
              <a:rPr sz="1275" b="0">
                <a:solidFill>
                  <a:srgbClr val="E2E8F0"/>
                </a:solidFill>
              </a:rPr>
              <a:t>Local RAG over curated assets and QA examples.</a:t>
            </a:r>
          </a:p>
        </p:txBody>
      </p:sp>
      <p:sp>
        <p:nvSpPr>
          <p:cNvPr id="15" name="">
            <a:extLst>
              <a:ext uri="{FF2B5EF4-FFF2-40B4-BE49-F238E27FC236}">
                <ns2:creationId id="{C056297B-C61B-46D6-BAF7-7AD112C678DB}"/>
              </a:ext>
            </a:extLst>
          </p:cNvPr>
          <p:cNvSpPr>
            <a:spLocks noGrp="1"/>
          </p:cNvSpPr>
          <p:nvPr/>
        </p:nvSpPr>
        <p:spPr>
          <a:xfrm>
            <a:off x="3371850" y="2266950"/>
            <a:ext cx="2400300" cy="2190750"/>
          </a:xfrm>
          <a:prstGeom prst="roundRect">
            <a:avLst>
              <a:gd name="adj" fmla="val 5217"/>
            </a:avLst>
          </a:prstGeom>
          <a:solidFill>
            <a:srgbClr val="0F172B"/>
          </a:solidFill>
          <a:ln w="9525">
            <a:solidFill>
              <a:srgbClr val="314158"/>
            </a:solidFill>
            <a:prstDash val="solid"/>
          </a:ln>
        </p:spPr>
      </p:sp>
      <p:sp>
        <p:nvSpPr>
          <p:cNvPr id="16" name="">
            <a:extLst>
              <a:ext uri="{FF2B5EF4-FFF2-40B4-BE49-F238E27FC236}">
                <ns2:creationId id="{2846DD6F-3111-41B7-8C5E-DCD7353CB1FD}"/>
              </a:ext>
            </a:extLst>
          </p:cNvPr>
          <p:cNvSpPr>
            <a:spLocks noGrp="1"/>
          </p:cNvSpPr>
          <p:nvPr/>
        </p:nvSpPr>
        <p:spPr>
          <a:xfrm>
            <a:off x="3581400" y="2495550"/>
            <a:ext cx="457200" cy="38100"/>
          </a:xfrm>
          <a:prstGeom prst="rect">
            <a:avLst/>
          </a:prstGeom>
          <a:solidFill>
            <a:srgbClr val="00D492"/>
          </a:solidFill>
          <a:ln w="9525">
            <a:solidFill>
              <a:srgbClr val="00D492"/>
            </a:solidFill>
            <a:prstDash val="solid"/>
          </a:ln>
        </p:spPr>
      </p:sp>
      <p:sp>
        <p:nvSpPr>
          <p:cNvPr id="17" name="">
            <a:extLst>
              <a:ext uri="{FF2B5EF4-FFF2-40B4-BE49-F238E27FC236}">
                <ns2:creationId id="{B0DD13B4-B394-40DF-9C09-A76E2905260F}"/>
              </a:ext>
            </a:extLst>
          </p:cNvPr>
          <p:cNvSpPr>
            <a:spLocks noGrp="1"/>
          </p:cNvSpPr>
          <p:nvPr/>
        </p:nvSpPr>
        <p:spPr>
          <a:xfrm>
            <a:off x="3581400" y="2800350"/>
            <a:ext cx="19812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Data Processing</a:t>
            </a:r>
          </a:p>
        </p:txBody>
      </p:sp>
      <p:sp>
        <p:nvSpPr>
          <p:cNvPr id="18" name="">
            <a:extLst>
              <a:ext uri="{FF2B5EF4-FFF2-40B4-BE49-F238E27FC236}">
                <ns2:creationId id="{36D8F6C4-C917-4A74-94CB-29BEFAFB479D}"/>
              </a:ext>
            </a:extLst>
          </p:cNvPr>
          <p:cNvSpPr>
            <a:spLocks noGrp="1"/>
          </p:cNvSpPr>
          <p:nvPr/>
        </p:nvSpPr>
        <p:spPr>
          <a:xfrm>
            <a:off x="3581400" y="3314700"/>
            <a:ext cx="19431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E2E8F0"/>
                </a:solidFill>
              </a:defRPr>
            </a:pPr>
            <a:r>
              <a:rPr sz="1275" b="0">
                <a:solidFill>
                  <a:srgbClr val="E2E8F0"/>
                </a:solidFill>
              </a:rPr>
              <a:t>NIfTI volumes are resized, normalized, and saved as NumPy arrays.</a:t>
            </a:r>
          </a:p>
        </p:txBody>
      </p:sp>
      <p:sp>
        <p:nvSpPr>
          <p:cNvPr id="19" name="">
            <a:extLst>
              <a:ext uri="{FF2B5EF4-FFF2-40B4-BE49-F238E27FC236}">
                <ns2:creationId id="{57DFC35E-5C08-46A5-9D8C-2CF5D82FC55F}"/>
              </a:ext>
            </a:extLst>
          </p:cNvPr>
          <p:cNvSpPr>
            <a:spLocks noGrp="1"/>
          </p:cNvSpPr>
          <p:nvPr/>
        </p:nvSpPr>
        <p:spPr>
          <a:xfrm>
            <a:off x="6057900" y="2266950"/>
            <a:ext cx="2400300" cy="2190750"/>
          </a:xfrm>
          <a:prstGeom prst="roundRect">
            <a:avLst>
              <a:gd name="adj" fmla="val 5217"/>
            </a:avLst>
          </a:prstGeom>
          <a:solidFill>
            <a:srgbClr val="0F172B"/>
          </a:solidFill>
          <a:ln w="9525">
            <a:solidFill>
              <a:srgbClr val="314158"/>
            </a:solidFill>
            <a:prstDash val="solid"/>
          </a:ln>
        </p:spPr>
      </p:sp>
      <p:sp>
        <p:nvSpPr>
          <p:cNvPr id="20" name="">
            <a:extLst>
              <a:ext uri="{FF2B5EF4-FFF2-40B4-BE49-F238E27FC236}">
                <ns2:creationId id="{88C4BBB2-0A74-43BB-99B2-C0CF21979AFC}"/>
              </a:ext>
            </a:extLst>
          </p:cNvPr>
          <p:cNvSpPr>
            <a:spLocks noGrp="1"/>
          </p:cNvSpPr>
          <p:nvPr/>
        </p:nvSpPr>
        <p:spPr>
          <a:xfrm>
            <a:off x="6267450" y="2495550"/>
            <a:ext cx="457200" cy="38100"/>
          </a:xfrm>
          <a:prstGeom prst="rect">
            <a:avLst/>
          </a:prstGeom>
          <a:solidFill>
            <a:srgbClr val="A684FF"/>
          </a:solidFill>
          <a:ln w="9525">
            <a:solidFill>
              <a:srgbClr val="A684FF"/>
            </a:solidFill>
            <a:prstDash val="solid"/>
          </a:ln>
        </p:spPr>
      </p:sp>
      <p:sp>
        <p:nvSpPr>
          <p:cNvPr id="21" name="">
            <a:extLst>
              <a:ext uri="{FF2B5EF4-FFF2-40B4-BE49-F238E27FC236}">
                <ns2:creationId id="{053A1F73-85A5-47B9-9564-B49548711DFB}"/>
              </a:ext>
            </a:extLst>
          </p:cNvPr>
          <p:cNvSpPr>
            <a:spLocks noGrp="1"/>
          </p:cNvSpPr>
          <p:nvPr/>
        </p:nvSpPr>
        <p:spPr>
          <a:xfrm>
            <a:off x="6267450" y="2800350"/>
            <a:ext cx="19812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Segmentation Lab</a:t>
            </a:r>
          </a:p>
        </p:txBody>
      </p:sp>
      <p:sp>
        <p:nvSpPr>
          <p:cNvPr id="22" name="">
            <a:extLst>
              <a:ext uri="{FF2B5EF4-FFF2-40B4-BE49-F238E27FC236}">
                <ns2:creationId id="{F86B6ADC-9EAD-4C35-B183-FC9CF36C0F97}"/>
              </a:ext>
            </a:extLst>
          </p:cNvPr>
          <p:cNvSpPr>
            <a:spLocks noGrp="1"/>
          </p:cNvSpPr>
          <p:nvPr/>
        </p:nvSpPr>
        <p:spPr>
          <a:xfrm>
            <a:off x="6267450" y="3314700"/>
            <a:ext cx="19431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E2E8F0"/>
                </a:solidFill>
              </a:defRPr>
            </a:pPr>
            <a:r>
              <a:rPr sz="1275" b="0">
                <a:solidFill>
                  <a:srgbClr val="E2E8F0"/>
                </a:solidFill>
              </a:rPr>
              <a:t>Slice browsing, overlays, model predictions, and Dice/IoU metrics.</a:t>
            </a:r>
          </a:p>
        </p:txBody>
      </p:sp>
      <p:sp>
        <p:nvSpPr>
          <p:cNvPr id="23" name="">
            <a:extLst>
              <a:ext uri="{FF2B5EF4-FFF2-40B4-BE49-F238E27FC236}">
                <ns2:creationId id="{6AA7D85C-277D-459E-AEC9-1192579DAD57}"/>
              </a:ext>
            </a:extLst>
          </p:cNvPr>
          <p:cNvSpPr>
            <a:spLocks noGrp="1"/>
          </p:cNvSpPr>
          <p:nvPr/>
        </p:nvSpPr>
        <p:spPr>
          <a:xfrm>
            <a:off x="8743950" y="2266950"/>
            <a:ext cx="2400300" cy="2190750"/>
          </a:xfrm>
          <a:prstGeom prst="roundRect">
            <a:avLst>
              <a:gd name="adj" fmla="val 5217"/>
            </a:avLst>
          </a:prstGeom>
          <a:solidFill>
            <a:srgbClr val="0F172B"/>
          </a:solidFill>
          <a:ln w="9525">
            <a:solidFill>
              <a:srgbClr val="314158"/>
            </a:solidFill>
            <a:prstDash val="solid"/>
          </a:ln>
        </p:spPr>
      </p:sp>
      <p:sp>
        <p:nvSpPr>
          <p:cNvPr id="24" name="">
            <a:extLst>
              <a:ext uri="{FF2B5EF4-FFF2-40B4-BE49-F238E27FC236}">
                <ns2:creationId id="{B42B8BE1-EE49-4485-9F3E-6F2CF117550F}"/>
              </a:ext>
            </a:extLst>
          </p:cNvPr>
          <p:cNvSpPr>
            <a:spLocks noGrp="1"/>
          </p:cNvSpPr>
          <p:nvPr/>
        </p:nvSpPr>
        <p:spPr>
          <a:xfrm>
            <a:off x="8953500" y="2495550"/>
            <a:ext cx="457200" cy="38100"/>
          </a:xfrm>
          <a:prstGeom prst="rect">
            <a:avLst/>
          </a:prstGeom>
          <a:solidFill>
            <a:srgbClr val="FFD230"/>
          </a:solidFill>
          <a:ln w="9525">
            <a:solidFill>
              <a:srgbClr val="FFD230"/>
            </a:solidFill>
            <a:prstDash val="solid"/>
          </a:ln>
        </p:spPr>
      </p:sp>
      <p:sp>
        <p:nvSpPr>
          <p:cNvPr id="25" name="">
            <a:extLst>
              <a:ext uri="{FF2B5EF4-FFF2-40B4-BE49-F238E27FC236}">
                <ns2:creationId id="{73F113CF-49C2-43F3-9E4B-C2F4FB20F359}"/>
              </a:ext>
            </a:extLst>
          </p:cNvPr>
          <p:cNvSpPr>
            <a:spLocks noGrp="1"/>
          </p:cNvSpPr>
          <p:nvPr/>
        </p:nvSpPr>
        <p:spPr>
          <a:xfrm>
            <a:off x="8953500" y="2800350"/>
            <a:ext cx="19812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Model Adapter</a:t>
            </a:r>
          </a:p>
        </p:txBody>
      </p:sp>
      <p:sp>
        <p:nvSpPr>
          <p:cNvPr id="26" name="">
            <a:extLst>
              <a:ext uri="{FF2B5EF4-FFF2-40B4-BE49-F238E27FC236}">
                <ns2:creationId id="{91CEDAF0-492D-47A0-B29E-D8179DDE6D8D}"/>
              </a:ext>
            </a:extLst>
          </p:cNvPr>
          <p:cNvSpPr>
            <a:spLocks noGrp="1"/>
          </p:cNvSpPr>
          <p:nvPr/>
        </p:nvSpPr>
        <p:spPr>
          <a:xfrm>
            <a:off x="8953500" y="3314700"/>
            <a:ext cx="19431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E2E8F0"/>
                </a:solidFill>
              </a:defRPr>
            </a:pPr>
            <a:r>
              <a:rPr sz="1275" b="0">
                <a:solidFill>
                  <a:srgbClr val="E2E8F0"/>
                </a:solidFill>
              </a:rPr>
              <a:t>MedSAM inference is isolated behind a clean adapter interface.</a:t>
            </a:r>
          </a:p>
        </p:txBody>
      </p:sp>
      <p:sp>
        <p:nvSpPr>
          <p:cNvPr id="27" name="">
            <a:extLst>
              <a:ext uri="{FF2B5EF4-FFF2-40B4-BE49-F238E27FC236}">
                <ns2:creationId id="{04788C6F-0E6C-4FF7-A340-3A33670A7D19}"/>
              </a:ext>
            </a:extLst>
          </p:cNvPr>
          <p:cNvSpPr>
            <a:spLocks noGrp="1"/>
          </p:cNvSpPr>
          <p:nvPr/>
        </p:nvSpPr>
        <p:spPr>
          <a:xfrm>
            <a:off x="1524000" y="5086350"/>
            <a:ext cx="9144000" cy="628650"/>
          </a:xfrm>
          <a:prstGeom prst="roundRect">
            <a:avLst>
              <a:gd name="adj" fmla="val 18182"/>
            </a:avLst>
          </a:prstGeom>
          <a:solidFill>
            <a:srgbClr val="0F172B"/>
          </a:solidFill>
          <a:ln w="9525">
            <a:solidFill>
              <a:srgbClr val="314158"/>
            </a:solidFill>
            <a:prstDash val="solid"/>
          </a:ln>
        </p:spPr>
      </p:sp>
      <p:sp>
        <p:nvSpPr>
          <p:cNvPr id="28" name="">
            <a:extLst>
              <a:ext uri="{FF2B5EF4-FFF2-40B4-BE49-F238E27FC236}">
                <ns2:creationId id="{F3537D5F-0C8C-4735-ACFC-7FB746DC6697}"/>
              </a:ext>
            </a:extLst>
          </p:cNvPr>
          <p:cNvSpPr>
            <a:spLocks noGrp="1"/>
          </p:cNvSpPr>
          <p:nvPr/>
        </p:nvSpPr>
        <p:spPr>
          <a:xfrm>
            <a:off x="1962150" y="5295900"/>
            <a:ext cx="8267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75" b="1">
                <a:solidFill>
                  <a:srgbClr val="00D3F2"/>
                </a:solidFill>
              </a:defRPr>
            </a:pPr>
            <a:r>
              <a:rPr sz="1575" b="1">
                <a:solidFill>
                  <a:srgbClr val="00D3F2"/>
                </a:solidFill>
              </a:rPr>
              <a:t>Runtime principle: keep knowledge, data, masks, and model outputs local and inspectable.</a:t>
            </a:r>
          </a:p>
        </p:txBody>
      </p:sp>
      <p:sp>
        <p:nvSpPr>
          <p:cNvPr id="29" name="">
            <a:extLst>
              <a:ext uri="{FF2B5EF4-FFF2-40B4-BE49-F238E27FC236}">
                <ns2:creationId id="{86960FC7-14C4-42E8-845C-6BB23635CB04}"/>
              </a:ext>
            </a:extLst>
          </p:cNvPr>
          <p:cNvSpPr>
            <a:spLocks noGrp="1"/>
          </p:cNvSpPr>
          <p:nvPr/>
        </p:nvSpPr>
        <p:spPr>
          <a:xfrm>
            <a:off x="685800" y="6515100"/>
            <a:ext cx="3238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1">
                <a:solidFill>
                  <a:srgbClr val="62748E"/>
                </a:solidFill>
              </a:defRPr>
            </a:pPr>
            <a:r>
              <a:rPr sz="750" b="1">
                <a:solidFill>
                  <a:srgbClr val="62748E"/>
                </a:solidFill>
              </a:rPr>
              <a:t>3D Medical Image Intelligent Agent</a:t>
            </a:r>
          </a:p>
        </p:txBody>
      </p:sp>
      <p:sp>
        <p:nvSpPr>
          <p:cNvPr id="30" name="">
            <a:extLst>
              <a:ext uri="{FF2B5EF4-FFF2-40B4-BE49-F238E27FC236}">
                <ns2:creationId id="{6B7B8A9A-336D-40D0-A517-C1AA3887CEDA}"/>
              </a:ext>
            </a:extLst>
          </p:cNvPr>
          <p:cNvSpPr>
            <a:spLocks noGrp="1"/>
          </p:cNvSpPr>
          <p:nvPr/>
        </p:nvSpPr>
        <p:spPr>
          <a:xfrm>
            <a:off x="8096250" y="6515100"/>
            <a:ext cx="34099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750" b="1">
                <a:solidFill>
                  <a:srgbClr val="62748E"/>
                </a:solidFill>
              </a:defRPr>
            </a:pPr>
            <a:r>
              <a:rPr sz="750" b="1">
                <a:solidFill>
                  <a:srgbClr val="62748E"/>
                </a:solidFill>
              </a:rPr>
              <a:t>Local RAG | NIfTI | Segmentation | MedSAM</a:t>
            </a:r>
          </a:p>
        </p:txBody>
      </p:sp>
    </p:spTree>
    <p:extLst>
      <p:ext uri="{BB962C8B-B14F-4D97-AF65-F5344CB8AC3E}">
        <ns3:creationId val="656598748"/>
      </p:ext>
    </p:extLst>
  </p:cSld>
</p:sld>
</file>

<file path=ppt/slides/slide3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020618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" name="">
            <a:extLst>
              <a:ext uri="{FF2B5EF4-FFF2-40B4-BE49-F238E27FC236}">
                <ns2:creationId id="{59CADDD6-F363-4015-89D0-A33F9C5BCC9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20618"/>
          </a:solidFill>
          <a:ln w="9525">
            <a:solidFill>
              <a:srgbClr val="020618"/>
            </a:solidFill>
            <a:prstDash val="solid"/>
          </a:ln>
        </p:spPr>
      </p:sp>
      <p:sp>
        <p:nvSpPr>
          <p:cNvPr id="2" name="">
            <a:extLst>
              <a:ext uri="{FF2B5EF4-FFF2-40B4-BE49-F238E27FC236}">
                <ns2:creationId id="{77C9512B-ACA7-4CB2-804D-E08E095DD55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47625"/>
          </a:xfrm>
          <a:prstGeom prst="rect">
            <a:avLst/>
          </a:prstGeom>
          <a:solidFill>
            <a:srgbClr val="00D3F2"/>
          </a:solidFill>
          <a:ln w="9525">
            <a:solidFill>
              <a:srgbClr val="00D3F2"/>
            </a:solidFill>
            <a:prstDash val="solid"/>
          </a:ln>
        </p:spPr>
      </p:sp>
      <p:sp>
        <p:nvSpPr>
          <p:cNvPr id="3" name="">
            <a:extLst>
              <a:ext uri="{FF2B5EF4-FFF2-40B4-BE49-F238E27FC236}">
                <ns2:creationId id="{144DFE2B-81AE-459E-AC3D-A6213A4DEADD}"/>
              </a:ext>
            </a:extLst>
          </p:cNvPr>
          <p:cNvSpPr>
            <a:spLocks noGrp="1"/>
          </p:cNvSpPr>
          <p:nvPr/>
        </p:nvSpPr>
        <p:spPr>
          <a:xfrm>
            <a:off x="0" y="6810375"/>
            <a:ext cx="12192000" cy="47625"/>
          </a:xfrm>
          <a:prstGeom prst="rect">
            <a:avLst/>
          </a:prstGeom>
          <a:solidFill>
            <a:srgbClr val="1D293D"/>
          </a:solidFill>
          <a:ln w="9525">
            <a:solidFill>
              <a:srgbClr val="1D293D"/>
            </a:solidFill>
            <a:prstDash val="solid"/>
          </a:ln>
        </p:spPr>
      </p:sp>
      <p:sp>
        <p:nvSpPr>
          <p:cNvPr id="4" name="">
            <a:extLst>
              <a:ext uri="{FF2B5EF4-FFF2-40B4-BE49-F238E27FC236}">
                <ns2:creationId id="{830C6A4B-DB1C-4E65-B9B0-9C77633236BA}"/>
              </a:ext>
            </a:extLst>
          </p:cNvPr>
          <p:cNvSpPr>
            <a:spLocks noGrp="1"/>
          </p:cNvSpPr>
          <p:nvPr/>
        </p:nvSpPr>
        <p:spPr>
          <a:xfrm>
            <a:off x="8858250" y="-1619250"/>
            <a:ext cx="4095750" cy="4095750"/>
          </a:xfrm>
          <a:prstGeom prst="ellipse">
            <a:avLst/>
          </a:prstGeom>
          <a:solidFill>
            <a:srgbClr val="0F172B"/>
          </a:solidFill>
          <a:ln w="9525">
            <a:solidFill>
              <a:srgbClr val="0F172B"/>
            </a:solidFill>
            <a:prstDash val="solid"/>
          </a:ln>
        </p:spPr>
      </p:sp>
      <p:sp>
        <p:nvSpPr>
          <p:cNvPr id="5" name="">
            <a:extLst>
              <a:ext uri="{FF2B5EF4-FFF2-40B4-BE49-F238E27FC236}">
                <ns2:creationId id="{90218B03-3393-408A-B25F-0F459A50AF9C}"/>
              </a:ext>
            </a:extLst>
          </p:cNvPr>
          <p:cNvSpPr>
            <a:spLocks noGrp="1"/>
          </p:cNvSpPr>
          <p:nvPr/>
        </p:nvSpPr>
        <p:spPr>
          <a:xfrm>
            <a:off x="-2000250" y="4476750"/>
            <a:ext cx="3429000" cy="3429000"/>
          </a:xfrm>
          <a:prstGeom prst="ellipse">
            <a:avLst/>
          </a:prstGeom>
          <a:solidFill>
            <a:srgbClr val="0F172B"/>
          </a:solidFill>
          <a:ln w="9525">
            <a:solidFill>
              <a:srgbClr val="0F172B"/>
            </a:solidFill>
            <a:prstDash val="solid"/>
          </a:ln>
        </p:spPr>
      </p:sp>
      <p:sp>
        <p:nvSpPr>
          <p:cNvPr id="6" name="">
            <a:extLst>
              <a:ext uri="{FF2B5EF4-FFF2-40B4-BE49-F238E27FC236}">
                <ns2:creationId id="{3FBD0B9B-FD6B-4511-8A7F-FA91BA372B30}"/>
              </a:ext>
            </a:extLst>
          </p:cNvPr>
          <p:cNvSpPr>
            <a:spLocks noGrp="1"/>
          </p:cNvSpPr>
          <p:nvPr/>
        </p:nvSpPr>
        <p:spPr>
          <a:xfrm>
            <a:off x="685800" y="323850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00D3F2"/>
                </a:solidFill>
              </a:defRPr>
            </a:pPr>
            <a:r>
              <a:rPr sz="900" b="1">
                <a:solidFill>
                  <a:srgbClr val="00D3F2"/>
                </a:solidFill>
              </a:rPr>
              <a:t>ARCHITECTURE</a:t>
            </a:r>
          </a:p>
        </p:txBody>
      </p:sp>
      <p:sp>
        <p:nvSpPr>
          <p:cNvPr id="7" name="">
            <a:extLst>
              <a:ext uri="{FF2B5EF4-FFF2-40B4-BE49-F238E27FC236}">
                <ns2:creationId id="{DDDA437E-8BFE-4A2B-B8C0-E867FE04A9AC}"/>
              </a:ext>
            </a:extLst>
          </p:cNvPr>
          <p:cNvSpPr>
            <a:spLocks noGrp="1"/>
          </p:cNvSpPr>
          <p:nvPr/>
        </p:nvSpPr>
        <p:spPr>
          <a:xfrm>
            <a:off x="11068050" y="32385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90A1B9"/>
                </a:solidFill>
              </a:defRPr>
            </a:pPr>
            <a:r>
              <a:rPr sz="900" b="1">
                <a:solidFill>
                  <a:srgbClr val="90A1B9"/>
                </a:solidFill>
              </a:rPr>
              <a:t>03</a:t>
            </a:r>
          </a:p>
        </p:txBody>
      </p:sp>
      <p:sp>
        <p:nvSpPr>
          <p:cNvPr id="8" name="">
            <a:extLst>
              <a:ext uri="{FF2B5EF4-FFF2-40B4-BE49-F238E27FC236}">
                <ns2:creationId id="{0B71F048-197E-4817-AC68-22A8B2A8FD51}"/>
              </a:ext>
            </a:extLst>
          </p:cNvPr>
          <p:cNvSpPr>
            <a:spLocks noGrp="1"/>
          </p:cNvSpPr>
          <p:nvPr/>
        </p:nvSpPr>
        <p:spPr>
          <a:xfrm>
            <a:off x="685800" y="685800"/>
            <a:ext cx="8953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Single interface with specialized modules</a:t>
            </a:r>
          </a:p>
        </p:txBody>
      </p:sp>
      <p:sp>
        <p:nvSpPr>
          <p:cNvPr id="9" name="">
            <a:extLst>
              <a:ext uri="{FF2B5EF4-FFF2-40B4-BE49-F238E27FC236}">
                <ns2:creationId id="{1629BA25-6005-458A-926A-119766C87F10}"/>
              </a:ext>
            </a:extLst>
          </p:cNvPr>
          <p:cNvSpPr>
            <a:spLocks noGrp="1"/>
          </p:cNvSpPr>
          <p:nvPr/>
        </p:nvSpPr>
        <p:spPr>
          <a:xfrm>
            <a:off x="685800" y="1257300"/>
            <a:ext cx="857250" cy="38100"/>
          </a:xfrm>
          <a:prstGeom prst="rect">
            <a:avLst/>
          </a:prstGeom>
          <a:solidFill>
            <a:srgbClr val="00D3F2"/>
          </a:solidFill>
          <a:ln w="9525">
            <a:solidFill>
              <a:srgbClr val="00D3F2"/>
            </a:solidFill>
            <a:prstDash val="solid"/>
          </a:ln>
        </p:spPr>
      </p:sp>
      <p:sp>
        <p:nvSpPr>
          <p:cNvPr id="10" name="">
            <a:extLst>
              <a:ext uri="{FF2B5EF4-FFF2-40B4-BE49-F238E27FC236}">
                <ns2:creationId id="{C110A78F-77B2-421E-B87B-F01193286E18}"/>
              </a:ext>
            </a:extLst>
          </p:cNvPr>
          <p:cNvSpPr>
            <a:spLocks noGrp="1"/>
          </p:cNvSpPr>
          <p:nvPr/>
        </p:nvSpPr>
        <p:spPr>
          <a:xfrm>
            <a:off x="685800" y="1466850"/>
            <a:ext cx="9810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E2E8F0"/>
                </a:solidFill>
              </a:defRPr>
            </a:pPr>
            <a:r>
              <a:rPr sz="1575" b="0">
                <a:solidFill>
                  <a:srgbClr val="E2E8F0"/>
                </a:solidFill>
              </a:rPr>
              <a:t>The web interface coordinates agent reasoning, data preparation, segmentation inspection, and model inference.</a:t>
            </a:r>
          </a:p>
        </p:txBody>
      </p:sp>
      <p:sp>
        <p:nvSpPr>
          <p:cNvPr id="11" name="">
            <a:extLst>
              <a:ext uri="{FF2B5EF4-FFF2-40B4-BE49-F238E27FC236}">
                <ns2:creationId id="{EA240D64-7DCE-4F19-8473-CD5659C1022C}"/>
              </a:ext>
            </a:extLst>
          </p:cNvPr>
          <p:cNvSpPr>
            <a:spLocks noGrp="1"/>
          </p:cNvSpPr>
          <p:nvPr/>
        </p:nvSpPr>
        <p:spPr>
          <a:xfrm>
            <a:off x="838200" y="2628900"/>
            <a:ext cx="1809750" cy="1104900"/>
          </a:xfrm>
          <a:prstGeom prst="roundRect">
            <a:avLst>
              <a:gd name="adj" fmla="val 10345"/>
            </a:avLst>
          </a:prstGeom>
          <a:solidFill>
            <a:srgbClr val="0F172B"/>
          </a:solidFill>
          <a:ln w="9525">
            <a:solidFill>
              <a:srgbClr val="314158"/>
            </a:solidFill>
            <a:prstDash val="solid"/>
          </a:ln>
        </p:spPr>
      </p:sp>
      <p:sp>
        <p:nvSpPr>
          <p:cNvPr id="12" name="">
            <a:extLst>
              <a:ext uri="{FF2B5EF4-FFF2-40B4-BE49-F238E27FC236}">
                <ns2:creationId id="{E144C0FC-7935-4662-9889-0198C22E4175}"/>
              </a:ext>
            </a:extLst>
          </p:cNvPr>
          <p:cNvSpPr>
            <a:spLocks noGrp="1"/>
          </p:cNvSpPr>
          <p:nvPr/>
        </p:nvSpPr>
        <p:spPr>
          <a:xfrm>
            <a:off x="1028700" y="2800350"/>
            <a:ext cx="400050" cy="38100"/>
          </a:xfrm>
          <a:prstGeom prst="rect">
            <a:avLst/>
          </a:prstGeom>
          <a:solidFill>
            <a:srgbClr val="00D3F2"/>
          </a:solidFill>
          <a:ln w="9525">
            <a:solidFill>
              <a:srgbClr val="00D3F2"/>
            </a:solidFill>
            <a:prstDash val="solid"/>
          </a:ln>
        </p:spPr>
      </p:sp>
      <p:sp>
        <p:nvSpPr>
          <p:cNvPr id="13" name="">
            <a:extLst>
              <a:ext uri="{FF2B5EF4-FFF2-40B4-BE49-F238E27FC236}">
                <ns2:creationId id="{8F222B2C-A15B-4040-AB81-48CD23F5062E}"/>
              </a:ext>
            </a:extLst>
          </p:cNvPr>
          <p:cNvSpPr>
            <a:spLocks noGrp="1"/>
          </p:cNvSpPr>
          <p:nvPr/>
        </p:nvSpPr>
        <p:spPr>
          <a:xfrm>
            <a:off x="1028700" y="2990850"/>
            <a:ext cx="1428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Gradio UI</a:t>
            </a:r>
          </a:p>
        </p:txBody>
      </p:sp>
      <p:sp>
        <p:nvSpPr>
          <p:cNvPr id="14" name="">
            <a:extLst>
              <a:ext uri="{FF2B5EF4-FFF2-40B4-BE49-F238E27FC236}">
                <ns2:creationId id="{152C3CA4-BCC6-4A40-ABFC-F4993B2115C7}"/>
              </a:ext>
            </a:extLst>
          </p:cNvPr>
          <p:cNvSpPr>
            <a:spLocks noGrp="1"/>
          </p:cNvSpPr>
          <p:nvPr/>
        </p:nvSpPr>
        <p:spPr>
          <a:xfrm>
            <a:off x="1066800" y="3352800"/>
            <a:ext cx="13525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0">
                <a:solidFill>
                  <a:srgbClr val="90A1B9"/>
                </a:solidFill>
              </a:defRPr>
            </a:pPr>
            <a:r>
              <a:rPr sz="1050" b="0">
                <a:solidFill>
                  <a:srgbClr val="90A1B9"/>
                </a:solidFill>
              </a:rPr>
              <a:t>tabs, controls, outputs</a:t>
            </a:r>
          </a:p>
        </p:txBody>
      </p:sp>
      <p:sp>
        <p:nvSpPr>
          <p:cNvPr id="15" name="">
            <a:extLst>
              <a:ext uri="{FF2B5EF4-FFF2-40B4-BE49-F238E27FC236}">
                <ns2:creationId id="{3F547709-80B2-4655-8E1E-DB62B4A8FD8E}"/>
              </a:ext>
            </a:extLst>
          </p:cNvPr>
          <p:cNvSpPr>
            <a:spLocks noGrp="1"/>
          </p:cNvSpPr>
          <p:nvPr/>
        </p:nvSpPr>
        <p:spPr>
          <a:xfrm>
            <a:off x="2857500" y="2990850"/>
            <a:ext cx="381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950" b="1">
                <a:solidFill>
                  <a:srgbClr val="90A1B9"/>
                </a:solidFill>
              </a:defRPr>
            </a:pPr>
            <a:r>
              <a:rPr sz="1950" b="1">
                <a:solidFill>
                  <a:srgbClr val="90A1B9"/>
                </a:solidFill>
              </a:rPr>
              <a:t>&gt;</a:t>
            </a:r>
          </a:p>
        </p:txBody>
      </p:sp>
      <p:sp>
        <p:nvSpPr>
          <p:cNvPr id="16" name="">
            <a:extLst>
              <a:ext uri="{FF2B5EF4-FFF2-40B4-BE49-F238E27FC236}">
                <ns2:creationId id="{21BBA0E0-F5F8-4760-B861-A7320433EF5A}"/>
              </a:ext>
            </a:extLst>
          </p:cNvPr>
          <p:cNvSpPr>
            <a:spLocks noGrp="1"/>
          </p:cNvSpPr>
          <p:nvPr/>
        </p:nvSpPr>
        <p:spPr>
          <a:xfrm>
            <a:off x="3448050" y="2628900"/>
            <a:ext cx="2095500" cy="1104900"/>
          </a:xfrm>
          <a:prstGeom prst="roundRect">
            <a:avLst>
              <a:gd name="adj" fmla="val 10345"/>
            </a:avLst>
          </a:prstGeom>
          <a:solidFill>
            <a:srgbClr val="0F172B"/>
          </a:solidFill>
          <a:ln w="9525">
            <a:solidFill>
              <a:srgbClr val="314158"/>
            </a:solidFill>
            <a:prstDash val="solid"/>
          </a:ln>
        </p:spPr>
      </p:sp>
      <p:sp>
        <p:nvSpPr>
          <p:cNvPr id="17" name="">
            <a:extLst>
              <a:ext uri="{FF2B5EF4-FFF2-40B4-BE49-F238E27FC236}">
                <ns2:creationId id="{8DCC037E-BE6C-4B47-8DE2-FC54154A9599}"/>
              </a:ext>
            </a:extLst>
          </p:cNvPr>
          <p:cNvSpPr>
            <a:spLocks noGrp="1"/>
          </p:cNvSpPr>
          <p:nvPr/>
        </p:nvSpPr>
        <p:spPr>
          <a:xfrm>
            <a:off x="3638550" y="2800350"/>
            <a:ext cx="400050" cy="38100"/>
          </a:xfrm>
          <a:prstGeom prst="rect">
            <a:avLst/>
          </a:prstGeom>
          <a:solidFill>
            <a:srgbClr val="00D492"/>
          </a:solidFill>
          <a:ln w="9525">
            <a:solidFill>
              <a:srgbClr val="00D492"/>
            </a:solidFill>
            <a:prstDash val="solid"/>
          </a:ln>
        </p:spPr>
      </p:sp>
      <p:sp>
        <p:nvSpPr>
          <p:cNvPr id="18" name="">
            <a:extLst>
              <a:ext uri="{FF2B5EF4-FFF2-40B4-BE49-F238E27FC236}">
                <ns2:creationId id="{0DEF26A0-C055-4117-99F8-93777F147A66}"/>
              </a:ext>
            </a:extLst>
          </p:cNvPr>
          <p:cNvSpPr>
            <a:spLocks noGrp="1"/>
          </p:cNvSpPr>
          <p:nvPr/>
        </p:nvSpPr>
        <p:spPr>
          <a:xfrm>
            <a:off x="3638550" y="2990850"/>
            <a:ext cx="1714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Intent Router</a:t>
            </a:r>
          </a:p>
        </p:txBody>
      </p:sp>
      <p:sp>
        <p:nvSpPr>
          <p:cNvPr id="19" name="">
            <a:extLst>
              <a:ext uri="{FF2B5EF4-FFF2-40B4-BE49-F238E27FC236}">
                <ns2:creationId id="{2A0B3183-D29E-44A4-8DAC-A25E47C63F92}"/>
              </a:ext>
            </a:extLst>
          </p:cNvPr>
          <p:cNvSpPr>
            <a:spLocks noGrp="1"/>
          </p:cNvSpPr>
          <p:nvPr/>
        </p:nvSpPr>
        <p:spPr>
          <a:xfrm>
            <a:off x="3676650" y="3352800"/>
            <a:ext cx="1638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0">
                <a:solidFill>
                  <a:srgbClr val="90A1B9"/>
                </a:solidFill>
              </a:defRPr>
            </a:pPr>
            <a:r>
              <a:rPr sz="1050" b="0">
                <a:solidFill>
                  <a:srgbClr val="90A1B9"/>
                </a:solidFill>
              </a:rPr>
              <a:t>QA vs. data task</a:t>
            </a:r>
          </a:p>
        </p:txBody>
      </p:sp>
      <p:sp>
        <p:nvSpPr>
          <p:cNvPr id="20" name="">
            <a:extLst>
              <a:ext uri="{FF2B5EF4-FFF2-40B4-BE49-F238E27FC236}">
                <ns2:creationId id="{CB2B0C1B-F117-451E-AA84-81F8A7FF0BD9}"/>
              </a:ext>
            </a:extLst>
          </p:cNvPr>
          <p:cNvSpPr>
            <a:spLocks noGrp="1"/>
          </p:cNvSpPr>
          <p:nvPr/>
        </p:nvSpPr>
        <p:spPr>
          <a:xfrm>
            <a:off x="5772150" y="2990850"/>
            <a:ext cx="381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950" b="1">
                <a:solidFill>
                  <a:srgbClr val="90A1B9"/>
                </a:solidFill>
              </a:defRPr>
            </a:pPr>
            <a:r>
              <a:rPr sz="1950" b="1">
                <a:solidFill>
                  <a:srgbClr val="90A1B9"/>
                </a:solidFill>
              </a:rPr>
              <a:t>&gt;</a:t>
            </a:r>
          </a:p>
        </p:txBody>
      </p:sp>
      <p:sp>
        <p:nvSpPr>
          <p:cNvPr id="21" name="">
            <a:extLst>
              <a:ext uri="{FF2B5EF4-FFF2-40B4-BE49-F238E27FC236}">
                <ns2:creationId id="{DF3D6445-CDCD-4CA2-8B92-68CF3E7043FE}"/>
              </a:ext>
            </a:extLst>
          </p:cNvPr>
          <p:cNvSpPr>
            <a:spLocks noGrp="1"/>
          </p:cNvSpPr>
          <p:nvPr/>
        </p:nvSpPr>
        <p:spPr>
          <a:xfrm>
            <a:off x="6362700" y="2628900"/>
            <a:ext cx="2286000" cy="1104900"/>
          </a:xfrm>
          <a:prstGeom prst="roundRect">
            <a:avLst>
              <a:gd name="adj" fmla="val 10345"/>
            </a:avLst>
          </a:prstGeom>
          <a:solidFill>
            <a:srgbClr val="0F172B"/>
          </a:solidFill>
          <a:ln w="9525">
            <a:solidFill>
              <a:srgbClr val="314158"/>
            </a:solidFill>
            <a:prstDash val="solid"/>
          </a:ln>
        </p:spPr>
      </p:sp>
      <p:sp>
        <p:nvSpPr>
          <p:cNvPr id="22" name="">
            <a:extLst>
              <a:ext uri="{FF2B5EF4-FFF2-40B4-BE49-F238E27FC236}">
                <ns2:creationId id="{4FA31813-3F48-46EF-A199-B71E3F84B7C6}"/>
              </a:ext>
            </a:extLst>
          </p:cNvPr>
          <p:cNvSpPr>
            <a:spLocks noGrp="1"/>
          </p:cNvSpPr>
          <p:nvPr/>
        </p:nvSpPr>
        <p:spPr>
          <a:xfrm>
            <a:off x="6553200" y="2800350"/>
            <a:ext cx="400050" cy="38100"/>
          </a:xfrm>
          <a:prstGeom prst="rect">
            <a:avLst/>
          </a:prstGeom>
          <a:solidFill>
            <a:srgbClr val="A684FF"/>
          </a:solidFill>
          <a:ln w="9525">
            <a:solidFill>
              <a:srgbClr val="A684FF"/>
            </a:solidFill>
            <a:prstDash val="solid"/>
          </a:ln>
        </p:spPr>
      </p:sp>
      <p:sp>
        <p:nvSpPr>
          <p:cNvPr id="23" name="">
            <a:extLst>
              <a:ext uri="{FF2B5EF4-FFF2-40B4-BE49-F238E27FC236}">
                <ns2:creationId id="{6C615366-4A9D-4A1E-8342-3EAF58698DC7}"/>
              </a:ext>
            </a:extLst>
          </p:cNvPr>
          <p:cNvSpPr>
            <a:spLocks noGrp="1"/>
          </p:cNvSpPr>
          <p:nvPr/>
        </p:nvSpPr>
        <p:spPr>
          <a:xfrm>
            <a:off x="6553200" y="2990850"/>
            <a:ext cx="1905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Specialists</a:t>
            </a:r>
          </a:p>
        </p:txBody>
      </p:sp>
      <p:sp>
        <p:nvSpPr>
          <p:cNvPr id="24" name="">
            <a:extLst>
              <a:ext uri="{FF2B5EF4-FFF2-40B4-BE49-F238E27FC236}">
                <ns2:creationId id="{AF4C4657-8D27-4C4C-8AB0-2619A4456454}"/>
              </a:ext>
            </a:extLst>
          </p:cNvPr>
          <p:cNvSpPr>
            <a:spLocks noGrp="1"/>
          </p:cNvSpPr>
          <p:nvPr/>
        </p:nvSpPr>
        <p:spPr>
          <a:xfrm>
            <a:off x="6591300" y="3352800"/>
            <a:ext cx="1828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0">
                <a:solidFill>
                  <a:srgbClr val="90A1B9"/>
                </a:solidFill>
              </a:defRPr>
            </a:pPr>
            <a:r>
              <a:rPr sz="1050" b="0">
                <a:solidFill>
                  <a:srgbClr val="90A1B9"/>
                </a:solidFill>
              </a:rPr>
              <a:t>RAG, data, masks, model</a:t>
            </a:r>
          </a:p>
        </p:txBody>
      </p:sp>
      <p:sp>
        <p:nvSpPr>
          <p:cNvPr id="25" name="">
            <a:extLst>
              <a:ext uri="{FF2B5EF4-FFF2-40B4-BE49-F238E27FC236}">
                <ns2:creationId id="{AF7C0E9E-FF99-4322-917E-4AF464069332}"/>
              </a:ext>
            </a:extLst>
          </p:cNvPr>
          <p:cNvSpPr>
            <a:spLocks noGrp="1"/>
          </p:cNvSpPr>
          <p:nvPr/>
        </p:nvSpPr>
        <p:spPr>
          <a:xfrm>
            <a:off x="8858250" y="2990850"/>
            <a:ext cx="381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950" b="1">
                <a:solidFill>
                  <a:srgbClr val="90A1B9"/>
                </a:solidFill>
              </a:defRPr>
            </a:pPr>
            <a:r>
              <a:rPr sz="1950" b="1">
                <a:solidFill>
                  <a:srgbClr val="90A1B9"/>
                </a:solidFill>
              </a:rPr>
              <a:t>&gt;</a:t>
            </a:r>
          </a:p>
        </p:txBody>
      </p:sp>
      <p:sp>
        <p:nvSpPr>
          <p:cNvPr id="26" name="">
            <a:extLst>
              <a:ext uri="{FF2B5EF4-FFF2-40B4-BE49-F238E27FC236}">
                <ns2:creationId id="{18DAE427-C443-4C32-95A9-D4EC2C2853E2}"/>
              </a:ext>
            </a:extLst>
          </p:cNvPr>
          <p:cNvSpPr>
            <a:spLocks noGrp="1"/>
          </p:cNvSpPr>
          <p:nvPr/>
        </p:nvSpPr>
        <p:spPr>
          <a:xfrm>
            <a:off x="9448800" y="2628900"/>
            <a:ext cx="1962150" cy="1104900"/>
          </a:xfrm>
          <a:prstGeom prst="roundRect">
            <a:avLst>
              <a:gd name="adj" fmla="val 10345"/>
            </a:avLst>
          </a:prstGeom>
          <a:solidFill>
            <a:srgbClr val="0F172B"/>
          </a:solidFill>
          <a:ln w="9525">
            <a:solidFill>
              <a:srgbClr val="314158"/>
            </a:solidFill>
            <a:prstDash val="solid"/>
          </a:ln>
        </p:spPr>
      </p:sp>
      <p:sp>
        <p:nvSpPr>
          <p:cNvPr id="27" name="">
            <a:extLst>
              <a:ext uri="{FF2B5EF4-FFF2-40B4-BE49-F238E27FC236}">
                <ns2:creationId id="{6DD9297C-2C42-4489-A5A1-95EA9917FE2C}"/>
              </a:ext>
            </a:extLst>
          </p:cNvPr>
          <p:cNvSpPr>
            <a:spLocks noGrp="1"/>
          </p:cNvSpPr>
          <p:nvPr/>
        </p:nvSpPr>
        <p:spPr>
          <a:xfrm>
            <a:off x="9639300" y="2800350"/>
            <a:ext cx="400050" cy="38100"/>
          </a:xfrm>
          <a:prstGeom prst="rect">
            <a:avLst/>
          </a:prstGeom>
          <a:solidFill>
            <a:srgbClr val="FFD230"/>
          </a:solidFill>
          <a:ln w="9525">
            <a:solidFill>
              <a:srgbClr val="FFD230"/>
            </a:solidFill>
            <a:prstDash val="solid"/>
          </a:ln>
        </p:spPr>
      </p:sp>
      <p:sp>
        <p:nvSpPr>
          <p:cNvPr id="28" name="">
            <a:extLst>
              <a:ext uri="{FF2B5EF4-FFF2-40B4-BE49-F238E27FC236}">
                <ns2:creationId id="{0D5E03D5-5791-49A1-87D9-4A7890BF296F}"/>
              </a:ext>
            </a:extLst>
          </p:cNvPr>
          <p:cNvSpPr>
            <a:spLocks noGrp="1"/>
          </p:cNvSpPr>
          <p:nvPr/>
        </p:nvSpPr>
        <p:spPr>
          <a:xfrm>
            <a:off x="9639300" y="2990850"/>
            <a:ext cx="15811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Local Artifacts</a:t>
            </a:r>
          </a:p>
        </p:txBody>
      </p:sp>
      <p:sp>
        <p:nvSpPr>
          <p:cNvPr id="29" name="">
            <a:extLst>
              <a:ext uri="{FF2B5EF4-FFF2-40B4-BE49-F238E27FC236}">
                <ns2:creationId id="{656B3274-8CA2-4B17-A1C0-4A8A116DB340}"/>
              </a:ext>
            </a:extLst>
          </p:cNvPr>
          <p:cNvSpPr>
            <a:spLocks noGrp="1"/>
          </p:cNvSpPr>
          <p:nvPr/>
        </p:nvSpPr>
        <p:spPr>
          <a:xfrm>
            <a:off x="9677400" y="3352800"/>
            <a:ext cx="15049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0">
                <a:solidFill>
                  <a:srgbClr val="90A1B9"/>
                </a:solidFill>
              </a:defRPr>
            </a:pPr>
            <a:r>
              <a:rPr sz="1050" b="0">
                <a:solidFill>
                  <a:srgbClr val="90A1B9"/>
                </a:solidFill>
              </a:rPr>
              <a:t>arrays, masks, predictions</a:t>
            </a:r>
          </a:p>
        </p:txBody>
      </p:sp>
      <p:sp>
        <p:nvSpPr>
          <p:cNvPr id="30" name="">
            <a:extLst>
              <a:ext uri="{FF2B5EF4-FFF2-40B4-BE49-F238E27FC236}">
                <ns2:creationId id="{EEBDC2B0-4968-49D9-9F21-55A3D9911B87}"/>
              </a:ext>
            </a:extLst>
          </p:cNvPr>
          <p:cNvSpPr>
            <a:spLocks noGrp="1"/>
          </p:cNvSpPr>
          <p:nvPr/>
        </p:nvSpPr>
        <p:spPr>
          <a:xfrm>
            <a:off x="1143000" y="4381500"/>
            <a:ext cx="9906000" cy="914400"/>
          </a:xfrm>
          <a:prstGeom prst="roundRect">
            <a:avLst>
              <a:gd name="adj" fmla="val 12500"/>
            </a:avLst>
          </a:prstGeom>
          <a:solidFill>
            <a:srgbClr val="0F172B"/>
          </a:solidFill>
          <a:ln w="9525">
            <a:solidFill>
              <a:srgbClr val="314158"/>
            </a:solidFill>
            <a:prstDash val="solid"/>
          </a:ln>
        </p:spPr>
      </p:sp>
      <p:sp>
        <p:nvSpPr>
          <p:cNvPr id="31" name="">
            <a:extLst>
              <a:ext uri="{FF2B5EF4-FFF2-40B4-BE49-F238E27FC236}">
                <ns2:creationId id="{220E5A11-16AC-4AD3-9415-B6858D6787AB}"/>
              </a:ext>
            </a:extLst>
          </p:cNvPr>
          <p:cNvSpPr>
            <a:spLocks noGrp="1"/>
          </p:cNvSpPr>
          <p:nvPr/>
        </p:nvSpPr>
        <p:spPr>
          <a:xfrm>
            <a:off x="1428750" y="4610100"/>
            <a:ext cx="2000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Key behavior</a:t>
            </a:r>
          </a:p>
        </p:txBody>
      </p:sp>
      <p:sp>
        <p:nvSpPr>
          <p:cNvPr id="32" name="">
            <a:extLst>
              <a:ext uri="{FF2B5EF4-FFF2-40B4-BE49-F238E27FC236}">
                <ns2:creationId id="{4E982FCA-1A81-4B70-A724-802097E351EE}"/>
              </a:ext>
            </a:extLst>
          </p:cNvPr>
          <p:cNvSpPr>
            <a:spLocks noGrp="1"/>
          </p:cNvSpPr>
          <p:nvPr/>
        </p:nvSpPr>
        <p:spPr>
          <a:xfrm>
            <a:off x="1428750" y="4953000"/>
            <a:ext cx="8915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E2E8F0"/>
                </a:solidFill>
              </a:defRPr>
            </a:pPr>
            <a:r>
              <a:rPr sz="1350" b="0">
                <a:solidFill>
                  <a:srgbClr val="E2E8F0"/>
                </a:solidFill>
              </a:rPr>
              <a:t>Each capability has an explicit module boundary, so the system can run local visualization and accept stronger model adapters later.</a:t>
            </a:r>
          </a:p>
        </p:txBody>
      </p:sp>
      <p:sp>
        <p:nvSpPr>
          <p:cNvPr id="33" name="">
            <a:extLst>
              <a:ext uri="{FF2B5EF4-FFF2-40B4-BE49-F238E27FC236}">
                <ns2:creationId id="{1A67040C-F7D7-4CD1-A75F-06BCDCD32C6B}"/>
              </a:ext>
            </a:extLst>
          </p:cNvPr>
          <p:cNvSpPr>
            <a:spLocks noGrp="1"/>
          </p:cNvSpPr>
          <p:nvPr/>
        </p:nvSpPr>
        <p:spPr>
          <a:xfrm>
            <a:off x="685800" y="6515100"/>
            <a:ext cx="3238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1">
                <a:solidFill>
                  <a:srgbClr val="62748E"/>
                </a:solidFill>
              </a:defRPr>
            </a:pPr>
            <a:r>
              <a:rPr sz="750" b="1">
                <a:solidFill>
                  <a:srgbClr val="62748E"/>
                </a:solidFill>
              </a:rPr>
              <a:t>3D Medical Image Intelligent Agent</a:t>
            </a:r>
          </a:p>
        </p:txBody>
      </p:sp>
      <p:sp>
        <p:nvSpPr>
          <p:cNvPr id="34" name="">
            <a:extLst>
              <a:ext uri="{FF2B5EF4-FFF2-40B4-BE49-F238E27FC236}">
                <ns2:creationId id="{1147F3A9-80D2-4CB5-984C-FF3390C4C112}"/>
              </a:ext>
            </a:extLst>
          </p:cNvPr>
          <p:cNvSpPr>
            <a:spLocks noGrp="1"/>
          </p:cNvSpPr>
          <p:nvPr/>
        </p:nvSpPr>
        <p:spPr>
          <a:xfrm>
            <a:off x="8096250" y="6515100"/>
            <a:ext cx="34099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750" b="1">
                <a:solidFill>
                  <a:srgbClr val="62748E"/>
                </a:solidFill>
              </a:defRPr>
            </a:pPr>
            <a:r>
              <a:rPr sz="750" b="1">
                <a:solidFill>
                  <a:srgbClr val="62748E"/>
                </a:solidFill>
              </a:rPr>
              <a:t>Local RAG | NIfTI | Segmentation | MedSAM</a:t>
            </a:r>
          </a:p>
        </p:txBody>
      </p:sp>
    </p:spTree>
    <p:extLst>
      <p:ext uri="{BB962C8B-B14F-4D97-AF65-F5344CB8AC3E}">
        <ns3:creationId val="184884553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206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598FE83-86E5-47E8-A4AD-01CE06B57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0618"/>
          </a:solidFill>
          <a:ln xmlns:a="http://schemas.openxmlformats.org/drawingml/2006/main" w="9525">
            <a:solidFill>
              <a:srgbClr val="02061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888422-6DB7-4E17-B096-E1CAAF21B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3F2"/>
          </a:solidFill>
          <a:ln xmlns:a="http://schemas.openxmlformats.org/drawingml/2006/main" w="9525">
            <a:solidFill>
              <a:srgbClr val="00D3F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567F05-ACF7-4E5A-A68E-04FA9BF57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10375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293D"/>
          </a:solidFill>
          <a:ln xmlns:a="http://schemas.openxmlformats.org/drawingml/2006/main" w="9525">
            <a:solidFill>
              <a:srgbClr val="1D293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471271-9810-4359-82F1-79C29F345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-1619250"/>
            <a:ext cx="4095750" cy="409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172B"/>
          </a:solidFill>
          <a:ln xmlns:a="http://schemas.openxmlformats.org/drawingml/2006/main" w="9525">
            <a:solidFill>
              <a:srgbClr val="0F172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EA487E-8158-4984-B606-AA705B45C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000250" y="447675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172B"/>
          </a:solidFill>
          <a:ln xmlns:a="http://schemas.openxmlformats.org/drawingml/2006/main" w="9525">
            <a:solidFill>
              <a:srgbClr val="0F172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15A211-10B1-4715-96F0-36ACF2D6A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D3F2"/>
                </a:solidFill>
              </a:defRPr>
            </a:pPr>
            <a:r>
              <a:rPr sz="900" b="1">
                <a:solidFill>
                  <a:srgbClr val="00D3F2"/>
                </a:solidFill>
              </a:rPr>
              <a:t>EVIDENCE MEMORY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826119-58D6-4C37-80FD-2EFAA87A8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3238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0A1B9"/>
                </a:solidFill>
              </a:defRPr>
            </a:pPr>
            <a:r>
              <a:rPr sz="900" b="1">
                <a:solidFill>
                  <a:srgbClr val="90A1B9"/>
                </a:solidFill>
              </a:rPr>
              <a:t>04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CB0B45-0961-42DF-B660-5B314C9DB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895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Local RAG anchors the assistant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0DCB59-6C95-4553-AE4B-D70B64C47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857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3F2"/>
          </a:solidFill>
          <a:ln xmlns:a="http://schemas.openxmlformats.org/drawingml/2006/main" w="9525">
            <a:solidFill>
              <a:srgbClr val="00D3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0E3164-A416-4B52-81CE-FE73B9DDA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90700"/>
            <a:ext cx="4591050" cy="3371850"/>
          </a:xfrm>
          <a:prstGeom xmlns:a="http://schemas.openxmlformats.org/drawingml/2006/main" prst="roundRect">
            <a:avLst>
              <a:gd name="adj" fmla="val 3390"/>
            </a:avLst>
          </a:prstGeom>
          <a:solidFill xmlns:a="http://schemas.openxmlformats.org/drawingml/2006/main">
            <a:srgbClr val="0F172B"/>
          </a:solidFill>
          <a:ln xmlns:a="http://schemas.openxmlformats.org/drawingml/2006/main" w="9525">
            <a:solidFill>
              <a:srgbClr val="31415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C4A480-675E-4A7C-A8EF-5CC3A0E82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11455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Knowledge foundation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07A982-64EF-46D0-BB3D-62BA7CE73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724150"/>
            <a:ext cx="3524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E2E8F0"/>
                </a:solidFill>
              </a:defRPr>
            </a:pPr>
            <a:r>
              <a:rPr sz="1425" b="0">
                <a:solidFill>
                  <a:srgbClr val="E2E8F0"/>
                </a:solidFill>
              </a:rPr>
              <a:t>- 75 curated academic knowledge assets</a:t>
            </a:r>
          </a:p>
          <a:p xmlns:a="http://schemas.openxmlformats.org/drawingml/2006/main">
            <a:pPr algn="l">
              <a:defRPr sz="1425" b="0">
                <a:solidFill>
                  <a:srgbClr val="E2E8F0"/>
                </a:solidFill>
              </a:defRPr>
            </a:pPr>
            <a:r>
              <a:rPr sz="1425" b="0">
                <a:solidFill>
                  <a:srgbClr val="E2E8F0"/>
                </a:solidFill>
              </a:rPr>
              <a:t>- 81 QA items loaded as an auxiliary index</a:t>
            </a:r>
          </a:p>
          <a:p xmlns:a="http://schemas.openxmlformats.org/drawingml/2006/main">
            <a:pPr algn="l">
              <a:defRPr sz="1425" b="0">
                <a:solidFill>
                  <a:srgbClr val="E2E8F0"/>
                </a:solidFill>
              </a:defRPr>
            </a:pPr>
            <a:r>
              <a:rPr sz="1425" b="0">
                <a:solidFill>
                  <a:srgbClr val="E2E8F0"/>
                </a:solidFill>
              </a:rPr>
              <a:t>- Retrieval before generation</a:t>
            </a:r>
          </a:p>
          <a:p xmlns:a="http://schemas.openxmlformats.org/drawingml/2006/main">
            <a:pPr algn="l">
              <a:defRPr sz="1425" b="0">
                <a:solidFill>
                  <a:srgbClr val="E2E8F0"/>
                </a:solidFill>
              </a:defRPr>
            </a:pPr>
            <a:r>
              <a:rPr sz="1425" b="0">
                <a:solidFill>
                  <a:srgbClr val="E2E8F0"/>
                </a:solidFill>
              </a:rPr>
              <a:t>- Domain-aware answer control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6A36C8-DABB-4307-B244-76E744645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419600"/>
            <a:ext cx="3505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D3F2"/>
                </a:solidFill>
              </a:defRPr>
            </a:pPr>
            <a:r>
              <a:rPr sz="1275" b="1">
                <a:solidFill>
                  <a:srgbClr val="00D3F2"/>
                </a:solidFill>
              </a:rPr>
              <a:t>The agent answers through project-local evidence instead of relying on a raw model response.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E26D31-4271-4194-8B9C-92C771C72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790700"/>
            <a:ext cx="4476750" cy="3371850"/>
          </a:xfrm>
          <a:prstGeom xmlns:a="http://schemas.openxmlformats.org/drawingml/2006/main" prst="roundRect">
            <a:avLst>
              <a:gd name="adj" fmla="val 3390"/>
            </a:avLst>
          </a:prstGeom>
          <a:solidFill xmlns:a="http://schemas.openxmlformats.org/drawingml/2006/main">
            <a:srgbClr val="0F172B"/>
          </a:solidFill>
          <a:ln xmlns:a="http://schemas.openxmlformats.org/drawingml/2006/main" w="9525">
            <a:solidFill>
              <a:srgbClr val="31415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7CA36A-B7A3-4392-B171-5A4865828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11455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Evidence flow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B8D505-0984-4E59-B9EF-EB259C418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6860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3F2"/>
          </a:solidFill>
          <a:ln xmlns:a="http://schemas.openxmlformats.org/drawingml/2006/main" w="9525">
            <a:solidFill>
              <a:srgbClr val="00D3F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E174F7-9E46-47BF-BAD1-1A46FF641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73367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20618"/>
                </a:solidFill>
              </a:defRPr>
            </a:pPr>
            <a:r>
              <a:rPr sz="975" b="1">
                <a:solidFill>
                  <a:srgbClr val="020618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7BE6CF-C200-47ED-B363-B9A084434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6670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2E8F0"/>
                </a:solidFill>
              </a:defRPr>
            </a:pPr>
            <a:r>
              <a:rPr sz="1425" b="1">
                <a:solidFill>
                  <a:srgbClr val="E2E8F0"/>
                </a:solidFill>
              </a:rPr>
              <a:t>User question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0D2FD70-43DE-4842-B155-90973B9B1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2385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492"/>
          </a:solidFill>
          <a:ln xmlns:a="http://schemas.openxmlformats.org/drawingml/2006/main" w="9525">
            <a:solidFill>
              <a:srgbClr val="00D49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7F9032-48FE-4827-8A41-33B47AF55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2861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20618"/>
                </a:solidFill>
              </a:defRPr>
            </a:pPr>
            <a:r>
              <a:rPr sz="975" b="1">
                <a:solidFill>
                  <a:srgbClr val="020618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C6BC7AD-306D-4D0A-91A2-D57B2321E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2194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2E8F0"/>
                </a:solidFill>
              </a:defRPr>
            </a:pPr>
            <a:r>
              <a:rPr sz="1425" b="1">
                <a:solidFill>
                  <a:srgbClr val="E2E8F0"/>
                </a:solidFill>
              </a:rPr>
              <a:t>Retrieve local context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E74A6D4-0778-46C0-98BC-D5732A57B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7909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84FF"/>
          </a:solidFill>
          <a:ln xmlns:a="http://schemas.openxmlformats.org/drawingml/2006/main" w="9525">
            <a:solidFill>
              <a:srgbClr val="A684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39FB2EC-8A51-40EF-8791-1EEBAEDED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83857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20618"/>
                </a:solidFill>
              </a:defRPr>
            </a:pPr>
            <a:r>
              <a:rPr sz="975" b="1">
                <a:solidFill>
                  <a:srgbClr val="020618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B3768DD-1ABC-4625-BF75-938DB381F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7719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2E8F0"/>
                </a:solidFill>
              </a:defRPr>
            </a:pPr>
            <a:r>
              <a:rPr sz="1425" b="1">
                <a:solidFill>
                  <a:srgbClr val="E2E8F0"/>
                </a:solidFill>
              </a:rPr>
              <a:t>Construct prompt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FAEAE12-61C3-4B6E-8594-719DBC68D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3434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230"/>
          </a:solidFill>
          <a:ln xmlns:a="http://schemas.openxmlformats.org/drawingml/2006/main" w="9525">
            <a:solidFill>
              <a:srgbClr val="FFD23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AB22DDA-5469-417C-ACAE-52DE3AC75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3910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20618"/>
                </a:solidFill>
              </a:defRPr>
            </a:pPr>
            <a:r>
              <a:rPr sz="975" b="1">
                <a:solidFill>
                  <a:srgbClr val="020618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3B6F108-26E2-4713-B9A2-43ED9F1A6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3243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2E8F0"/>
                </a:solidFill>
              </a:defRPr>
            </a:pPr>
            <a:r>
              <a:rPr sz="1425" b="1">
                <a:solidFill>
                  <a:srgbClr val="E2E8F0"/>
                </a:solidFill>
              </a:rPr>
              <a:t>Grounded answer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FAA90D8-17CA-42BC-B375-2CC4B09F5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323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2748E"/>
                </a:solidFill>
              </a:defRPr>
            </a:pPr>
            <a:r>
              <a:rPr sz="750" b="1">
                <a:solidFill>
                  <a:srgbClr val="62748E"/>
                </a:solidFill>
              </a:rPr>
              <a:t>3D Medical Image Intelligent Agent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AB10178-FCE8-46D1-85B8-E0A53AC5F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15100"/>
            <a:ext cx="3409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2748E"/>
                </a:solidFill>
              </a:defRPr>
            </a:pPr>
            <a:r>
              <a:rPr sz="750" b="1">
                <a:solidFill>
                  <a:srgbClr val="62748E"/>
                </a:solidFill>
              </a:rPr>
              <a:t>Local RAG | NIfTI | Segmentation | MedSAM</a:t>
            </a:r>
          </a:p>
        </p:txBody>
      </p:sp>
    </p:spTree>
    <p:extLst>
      <p:ext uri="{BB962C8B-B14F-4D97-AF65-F5344CB8AC3E}">
        <p14:creationId xmlns:p14="http://schemas.microsoft.com/office/powerpoint/2010/main" val="1814767945"/>
      </p:ext>
    </p:extLst>
  </p:cSld>
</p:sld>
</file>

<file path=ppt/slides/slide5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020618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" name="">
            <a:extLst>
              <a:ext uri="{FF2B5EF4-FFF2-40B4-BE49-F238E27FC236}">
                <ns2:creationId id="{F8C34A17-3F5C-40EB-BEF1-9BA01FF26F1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20618"/>
          </a:solidFill>
          <a:ln w="9525">
            <a:solidFill>
              <a:srgbClr val="020618"/>
            </a:solidFill>
            <a:prstDash val="solid"/>
          </a:ln>
        </p:spPr>
      </p:sp>
      <p:sp>
        <p:nvSpPr>
          <p:cNvPr id="2" name="">
            <a:extLst>
              <a:ext uri="{FF2B5EF4-FFF2-40B4-BE49-F238E27FC236}">
                <ns2:creationId id="{FEF56DEB-A67B-4F55-9C53-AAA7386538E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47625"/>
          </a:xfrm>
          <a:prstGeom prst="rect">
            <a:avLst/>
          </a:prstGeom>
          <a:solidFill>
            <a:srgbClr val="00D3F2"/>
          </a:solidFill>
          <a:ln w="9525">
            <a:solidFill>
              <a:srgbClr val="00D3F2"/>
            </a:solidFill>
            <a:prstDash val="solid"/>
          </a:ln>
        </p:spPr>
      </p:sp>
      <p:sp>
        <p:nvSpPr>
          <p:cNvPr id="3" name="">
            <a:extLst>
              <a:ext uri="{FF2B5EF4-FFF2-40B4-BE49-F238E27FC236}">
                <ns2:creationId id="{DF66245C-7918-407C-AC48-BE5FEAD17923}"/>
              </a:ext>
            </a:extLst>
          </p:cNvPr>
          <p:cNvSpPr>
            <a:spLocks noGrp="1"/>
          </p:cNvSpPr>
          <p:nvPr/>
        </p:nvSpPr>
        <p:spPr>
          <a:xfrm>
            <a:off x="0" y="6810375"/>
            <a:ext cx="12192000" cy="47625"/>
          </a:xfrm>
          <a:prstGeom prst="rect">
            <a:avLst/>
          </a:prstGeom>
          <a:solidFill>
            <a:srgbClr val="1D293D"/>
          </a:solidFill>
          <a:ln w="9525">
            <a:solidFill>
              <a:srgbClr val="1D293D"/>
            </a:solidFill>
            <a:prstDash val="solid"/>
          </a:ln>
        </p:spPr>
      </p:sp>
      <p:sp>
        <p:nvSpPr>
          <p:cNvPr id="4" name="">
            <a:extLst>
              <a:ext uri="{FF2B5EF4-FFF2-40B4-BE49-F238E27FC236}">
                <ns2:creationId id="{94DECE25-10AB-4CD6-8125-0ADA2DF3F2DC}"/>
              </a:ext>
            </a:extLst>
          </p:cNvPr>
          <p:cNvSpPr>
            <a:spLocks noGrp="1"/>
          </p:cNvSpPr>
          <p:nvPr/>
        </p:nvSpPr>
        <p:spPr>
          <a:xfrm>
            <a:off x="8858250" y="-1619250"/>
            <a:ext cx="4095750" cy="4095750"/>
          </a:xfrm>
          <a:prstGeom prst="ellipse">
            <a:avLst/>
          </a:prstGeom>
          <a:solidFill>
            <a:srgbClr val="0F172B"/>
          </a:solidFill>
          <a:ln w="9525">
            <a:solidFill>
              <a:srgbClr val="0F172B"/>
            </a:solidFill>
            <a:prstDash val="solid"/>
          </a:ln>
        </p:spPr>
      </p:sp>
      <p:sp>
        <p:nvSpPr>
          <p:cNvPr id="5" name="">
            <a:extLst>
              <a:ext uri="{FF2B5EF4-FFF2-40B4-BE49-F238E27FC236}">
                <ns2:creationId id="{436002CD-AFEB-4279-9933-BA01FB99105B}"/>
              </a:ext>
            </a:extLst>
          </p:cNvPr>
          <p:cNvSpPr>
            <a:spLocks noGrp="1"/>
          </p:cNvSpPr>
          <p:nvPr/>
        </p:nvSpPr>
        <p:spPr>
          <a:xfrm>
            <a:off x="-2000250" y="4476750"/>
            <a:ext cx="3429000" cy="3429000"/>
          </a:xfrm>
          <a:prstGeom prst="ellipse">
            <a:avLst/>
          </a:prstGeom>
          <a:solidFill>
            <a:srgbClr val="0F172B"/>
          </a:solidFill>
          <a:ln w="9525">
            <a:solidFill>
              <a:srgbClr val="0F172B"/>
            </a:solidFill>
            <a:prstDash val="solid"/>
          </a:ln>
        </p:spPr>
      </p:sp>
      <p:sp>
        <p:nvSpPr>
          <p:cNvPr id="6" name="">
            <a:extLst>
              <a:ext uri="{FF2B5EF4-FFF2-40B4-BE49-F238E27FC236}">
                <ns2:creationId id="{64C42E00-C5AF-47F1-9345-7E0D2FB2E681}"/>
              </a:ext>
            </a:extLst>
          </p:cNvPr>
          <p:cNvSpPr>
            <a:spLocks noGrp="1"/>
          </p:cNvSpPr>
          <p:nvPr/>
        </p:nvSpPr>
        <p:spPr>
          <a:xfrm>
            <a:off x="685800" y="323850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00D3F2"/>
                </a:solidFill>
              </a:defRPr>
            </a:pPr>
            <a:r>
              <a:rPr sz="900" b="1">
                <a:solidFill>
                  <a:srgbClr val="00D3F2"/>
                </a:solidFill>
              </a:rPr>
              <a:t>NIFTI PIPELINE</a:t>
            </a:r>
          </a:p>
        </p:txBody>
      </p:sp>
      <p:sp>
        <p:nvSpPr>
          <p:cNvPr id="7" name="">
            <a:extLst>
              <a:ext uri="{FF2B5EF4-FFF2-40B4-BE49-F238E27FC236}">
                <ns2:creationId id="{599B5056-58C0-4DF8-9025-57902C504B46}"/>
              </a:ext>
            </a:extLst>
          </p:cNvPr>
          <p:cNvSpPr>
            <a:spLocks noGrp="1"/>
          </p:cNvSpPr>
          <p:nvPr/>
        </p:nvSpPr>
        <p:spPr>
          <a:xfrm>
            <a:off x="11068050" y="32385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90A1B9"/>
                </a:solidFill>
              </a:defRPr>
            </a:pPr>
            <a:r>
              <a:rPr sz="900" b="1">
                <a:solidFill>
                  <a:srgbClr val="90A1B9"/>
                </a:solidFill>
              </a:rPr>
              <a:t>05</a:t>
            </a:r>
          </a:p>
        </p:txBody>
      </p:sp>
      <p:sp>
        <p:nvSpPr>
          <p:cNvPr id="8" name="">
            <a:extLst>
              <a:ext uri="{FF2B5EF4-FFF2-40B4-BE49-F238E27FC236}">
                <ns2:creationId id="{3DEB5BF3-584E-4EF1-B871-560E7AA72BCD}"/>
              </a:ext>
            </a:extLst>
          </p:cNvPr>
          <p:cNvSpPr>
            <a:spLocks noGrp="1"/>
          </p:cNvSpPr>
          <p:nvPr/>
        </p:nvSpPr>
        <p:spPr>
          <a:xfrm>
            <a:off x="685800" y="685800"/>
            <a:ext cx="8953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Medical volumes become reusable arrays</a:t>
            </a:r>
          </a:p>
        </p:txBody>
      </p:sp>
      <p:sp>
        <p:nvSpPr>
          <p:cNvPr id="9" name="">
            <a:extLst>
              <a:ext uri="{FF2B5EF4-FFF2-40B4-BE49-F238E27FC236}">
                <ns2:creationId id="{78A6A89D-1233-4E0E-B4A5-A2A2C4BE8F06}"/>
              </a:ext>
            </a:extLst>
          </p:cNvPr>
          <p:cNvSpPr>
            <a:spLocks noGrp="1"/>
          </p:cNvSpPr>
          <p:nvPr/>
        </p:nvSpPr>
        <p:spPr>
          <a:xfrm>
            <a:off x="685800" y="1257300"/>
            <a:ext cx="857250" cy="38100"/>
          </a:xfrm>
          <a:prstGeom prst="rect">
            <a:avLst/>
          </a:prstGeom>
          <a:solidFill>
            <a:srgbClr val="00D3F2"/>
          </a:solidFill>
          <a:ln w="9525">
            <a:solidFill>
              <a:srgbClr val="00D3F2"/>
            </a:solidFill>
            <a:prstDash val="solid"/>
          </a:ln>
        </p:spPr>
      </p:sp>
      <p:sp>
        <p:nvSpPr>
          <p:cNvPr id="10" name="">
            <a:extLst>
              <a:ext uri="{FF2B5EF4-FFF2-40B4-BE49-F238E27FC236}">
                <ns2:creationId id="{8522F813-96DC-47D6-AA76-9E4CF5FE9C94}"/>
              </a:ext>
            </a:extLst>
          </p:cNvPr>
          <p:cNvSpPr>
            <a:spLocks noGrp="1"/>
          </p:cNvSpPr>
          <p:nvPr/>
        </p:nvSpPr>
        <p:spPr>
          <a:xfrm>
            <a:off x="685800" y="1466850"/>
            <a:ext cx="9810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E2E8F0"/>
                </a:solidFill>
              </a:defRPr>
            </a:pPr>
            <a:r>
              <a:rPr sz="1575" b="0">
                <a:solidFill>
                  <a:srgbClr val="E2E8F0"/>
                </a:solidFill>
              </a:rPr>
              <a:t>The data agent standardizes image and mask volumes for visualization, metrics, and model inference.</a:t>
            </a:r>
          </a:p>
        </p:txBody>
      </p:sp>
      <p:sp>
        <p:nvSpPr>
          <p:cNvPr id="11" name="">
            <a:extLst>
              <a:ext uri="{FF2B5EF4-FFF2-40B4-BE49-F238E27FC236}">
                <ns2:creationId id="{02EAC942-DF10-491E-BF73-D8823639DAB1}"/>
              </a:ext>
            </a:extLst>
          </p:cNvPr>
          <p:cNvSpPr>
            <a:spLocks noGrp="1"/>
          </p:cNvSpPr>
          <p:nvPr/>
        </p:nvSpPr>
        <p:spPr>
          <a:xfrm>
            <a:off x="742950" y="2476500"/>
            <a:ext cx="1847850" cy="1485900"/>
          </a:xfrm>
          <a:prstGeom prst="roundRect">
            <a:avLst>
              <a:gd name="adj" fmla="val 7692"/>
            </a:avLst>
          </a:prstGeom>
          <a:solidFill>
            <a:srgbClr val="0F172B"/>
          </a:solidFill>
          <a:ln w="9525">
            <a:solidFill>
              <a:srgbClr val="314158"/>
            </a:solidFill>
            <a:prstDash val="solid"/>
          </a:ln>
        </p:spPr>
      </p:sp>
      <p:sp>
        <p:nvSpPr>
          <p:cNvPr id="12" name="">
            <a:extLst>
              <a:ext uri="{FF2B5EF4-FFF2-40B4-BE49-F238E27FC236}">
                <ns2:creationId id="{0C313A3D-4D68-47DF-8249-924303C9992C}"/>
              </a:ext>
            </a:extLst>
          </p:cNvPr>
          <p:cNvSpPr>
            <a:spLocks noGrp="1"/>
          </p:cNvSpPr>
          <p:nvPr/>
        </p:nvSpPr>
        <p:spPr>
          <a:xfrm>
            <a:off x="933450" y="2743200"/>
            <a:ext cx="1466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Raw NIfTI</a:t>
            </a:r>
          </a:p>
        </p:txBody>
      </p:sp>
      <p:sp>
        <p:nvSpPr>
          <p:cNvPr id="13" name="">
            <a:extLst>
              <a:ext uri="{FF2B5EF4-FFF2-40B4-BE49-F238E27FC236}">
                <ns2:creationId id="{082388B7-58E2-4019-A841-8F8FC20EEFB0}"/>
              </a:ext>
            </a:extLst>
          </p:cNvPr>
          <p:cNvSpPr>
            <a:spLocks noGrp="1"/>
          </p:cNvSpPr>
          <p:nvPr/>
        </p:nvSpPr>
        <p:spPr>
          <a:xfrm>
            <a:off x="914400" y="3219450"/>
            <a:ext cx="15049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0">
                <a:solidFill>
                  <a:srgbClr val="E2E8F0"/>
                </a:solidFill>
              </a:defRPr>
            </a:pPr>
            <a:r>
              <a:rPr sz="1050" b="0">
                <a:solidFill>
                  <a:srgbClr val="E2E8F0"/>
                </a:solidFill>
              </a:rPr>
              <a:t>image and mask volumes</a:t>
            </a:r>
          </a:p>
        </p:txBody>
      </p:sp>
      <p:sp>
        <p:nvSpPr>
          <p:cNvPr id="14" name="">
            <a:extLst>
              <a:ext uri="{FF2B5EF4-FFF2-40B4-BE49-F238E27FC236}">
                <ns2:creationId id="{CB5F0546-2231-4CCA-AE51-957DA5631423}"/>
              </a:ext>
            </a:extLst>
          </p:cNvPr>
          <p:cNvSpPr>
            <a:spLocks noGrp="1"/>
          </p:cNvSpPr>
          <p:nvPr/>
        </p:nvSpPr>
        <p:spPr>
          <a:xfrm>
            <a:off x="2647950" y="3048000"/>
            <a:ext cx="323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90A1B9"/>
                </a:solidFill>
              </a:defRPr>
            </a:pPr>
            <a:r>
              <a:rPr sz="1650" b="1">
                <a:solidFill>
                  <a:srgbClr val="90A1B9"/>
                </a:solidFill>
              </a:rPr>
              <a:t>&gt;</a:t>
            </a:r>
          </a:p>
        </p:txBody>
      </p:sp>
      <p:sp>
        <p:nvSpPr>
          <p:cNvPr id="15" name="">
            <a:extLst>
              <a:ext uri="{FF2B5EF4-FFF2-40B4-BE49-F238E27FC236}">
                <ns2:creationId id="{91EA96AC-DA1B-4604-8F9E-395A6218B779}"/>
              </a:ext>
            </a:extLst>
          </p:cNvPr>
          <p:cNvSpPr>
            <a:spLocks noGrp="1"/>
          </p:cNvSpPr>
          <p:nvPr/>
        </p:nvSpPr>
        <p:spPr>
          <a:xfrm>
            <a:off x="3028950" y="2476500"/>
            <a:ext cx="1847850" cy="1485900"/>
          </a:xfrm>
          <a:prstGeom prst="roundRect">
            <a:avLst>
              <a:gd name="adj" fmla="val 7692"/>
            </a:avLst>
          </a:prstGeom>
          <a:solidFill>
            <a:srgbClr val="1D293D"/>
          </a:solidFill>
          <a:ln w="9525">
            <a:solidFill>
              <a:srgbClr val="314158"/>
            </a:solidFill>
            <a:prstDash val="solid"/>
          </a:ln>
        </p:spPr>
      </p:sp>
      <p:sp>
        <p:nvSpPr>
          <p:cNvPr id="16" name="">
            <a:extLst>
              <a:ext uri="{FF2B5EF4-FFF2-40B4-BE49-F238E27FC236}">
                <ns2:creationId id="{ADE68FB4-F242-4BAE-A562-27D08F7CAD00}"/>
              </a:ext>
            </a:extLst>
          </p:cNvPr>
          <p:cNvSpPr>
            <a:spLocks noGrp="1"/>
          </p:cNvSpPr>
          <p:nvPr/>
        </p:nvSpPr>
        <p:spPr>
          <a:xfrm>
            <a:off x="3219450" y="2743200"/>
            <a:ext cx="1466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Load</a:t>
            </a:r>
          </a:p>
        </p:txBody>
      </p:sp>
      <p:sp>
        <p:nvSpPr>
          <p:cNvPr id="17" name="">
            <a:extLst>
              <a:ext uri="{FF2B5EF4-FFF2-40B4-BE49-F238E27FC236}">
                <ns2:creationId id="{A10E3E58-7E85-44ED-A90F-BB967A61BCF6}"/>
              </a:ext>
            </a:extLst>
          </p:cNvPr>
          <p:cNvSpPr>
            <a:spLocks noGrp="1"/>
          </p:cNvSpPr>
          <p:nvPr/>
        </p:nvSpPr>
        <p:spPr>
          <a:xfrm>
            <a:off x="3200400" y="3219450"/>
            <a:ext cx="15049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0">
                <a:solidFill>
                  <a:srgbClr val="E2E8F0"/>
                </a:solidFill>
              </a:defRPr>
            </a:pPr>
            <a:r>
              <a:rPr sz="1050" b="0">
                <a:solidFill>
                  <a:srgbClr val="E2E8F0"/>
                </a:solidFill>
              </a:rPr>
              <a:t>read arrays and metadata</a:t>
            </a:r>
          </a:p>
        </p:txBody>
      </p:sp>
      <p:sp>
        <p:nvSpPr>
          <p:cNvPr id="18" name="">
            <a:extLst>
              <a:ext uri="{FF2B5EF4-FFF2-40B4-BE49-F238E27FC236}">
                <ns2:creationId id="{592CE3BD-0BB0-4286-B8D5-D89A31B6CF6B}"/>
              </a:ext>
            </a:extLst>
          </p:cNvPr>
          <p:cNvSpPr>
            <a:spLocks noGrp="1"/>
          </p:cNvSpPr>
          <p:nvPr/>
        </p:nvSpPr>
        <p:spPr>
          <a:xfrm>
            <a:off x="4933950" y="3048000"/>
            <a:ext cx="323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90A1B9"/>
                </a:solidFill>
              </a:defRPr>
            </a:pPr>
            <a:r>
              <a:rPr sz="1650" b="1">
                <a:solidFill>
                  <a:srgbClr val="90A1B9"/>
                </a:solidFill>
              </a:rPr>
              <a:t>&gt;</a:t>
            </a:r>
          </a:p>
        </p:txBody>
      </p:sp>
      <p:sp>
        <p:nvSpPr>
          <p:cNvPr id="19" name="">
            <a:extLst>
              <a:ext uri="{FF2B5EF4-FFF2-40B4-BE49-F238E27FC236}">
                <ns2:creationId id="{B368EBDD-AFD3-484F-AD4E-47E6B4AF0818}"/>
              </a:ext>
            </a:extLst>
          </p:cNvPr>
          <p:cNvSpPr>
            <a:spLocks noGrp="1"/>
          </p:cNvSpPr>
          <p:nvPr/>
        </p:nvSpPr>
        <p:spPr>
          <a:xfrm>
            <a:off x="5314950" y="2476500"/>
            <a:ext cx="1847850" cy="1485900"/>
          </a:xfrm>
          <a:prstGeom prst="roundRect">
            <a:avLst>
              <a:gd name="adj" fmla="val 7692"/>
            </a:avLst>
          </a:prstGeom>
          <a:solidFill>
            <a:srgbClr val="0F172B"/>
          </a:solidFill>
          <a:ln w="9525">
            <a:solidFill>
              <a:srgbClr val="314158"/>
            </a:solidFill>
            <a:prstDash val="solid"/>
          </a:ln>
        </p:spPr>
      </p:sp>
      <p:sp>
        <p:nvSpPr>
          <p:cNvPr id="20" name="">
            <a:extLst>
              <a:ext uri="{FF2B5EF4-FFF2-40B4-BE49-F238E27FC236}">
                <ns2:creationId id="{254FDC90-964E-4D25-B478-680D58124AEA}"/>
              </a:ext>
            </a:extLst>
          </p:cNvPr>
          <p:cNvSpPr>
            <a:spLocks noGrp="1"/>
          </p:cNvSpPr>
          <p:nvPr/>
        </p:nvSpPr>
        <p:spPr>
          <a:xfrm>
            <a:off x="5505450" y="2743200"/>
            <a:ext cx="1466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Resize</a:t>
            </a:r>
          </a:p>
        </p:txBody>
      </p:sp>
      <p:sp>
        <p:nvSpPr>
          <p:cNvPr id="21" name="">
            <a:extLst>
              <a:ext uri="{FF2B5EF4-FFF2-40B4-BE49-F238E27FC236}">
                <ns2:creationId id="{F6B5864D-0247-4BC1-B99C-B71752B61DE7}"/>
              </a:ext>
            </a:extLst>
          </p:cNvPr>
          <p:cNvSpPr>
            <a:spLocks noGrp="1"/>
          </p:cNvSpPr>
          <p:nvPr/>
        </p:nvSpPr>
        <p:spPr>
          <a:xfrm>
            <a:off x="5486400" y="3219450"/>
            <a:ext cx="15049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0">
                <a:solidFill>
                  <a:srgbClr val="E2E8F0"/>
                </a:solidFill>
              </a:defRPr>
            </a:pPr>
            <a:r>
              <a:rPr sz="1050" b="0">
                <a:solidFill>
                  <a:srgbClr val="E2E8F0"/>
                </a:solidFill>
              </a:rPr>
              <a:t>128 x 128 x 64 target</a:t>
            </a:r>
          </a:p>
        </p:txBody>
      </p:sp>
      <p:sp>
        <p:nvSpPr>
          <p:cNvPr id="22" name="">
            <a:extLst>
              <a:ext uri="{FF2B5EF4-FFF2-40B4-BE49-F238E27FC236}">
                <ns2:creationId id="{9A97D02D-9484-45E6-B87D-18B41BF92A11}"/>
              </a:ext>
            </a:extLst>
          </p:cNvPr>
          <p:cNvSpPr>
            <a:spLocks noGrp="1"/>
          </p:cNvSpPr>
          <p:nvPr/>
        </p:nvSpPr>
        <p:spPr>
          <a:xfrm>
            <a:off x="7219950" y="3048000"/>
            <a:ext cx="323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90A1B9"/>
                </a:solidFill>
              </a:defRPr>
            </a:pPr>
            <a:r>
              <a:rPr sz="1650" b="1">
                <a:solidFill>
                  <a:srgbClr val="90A1B9"/>
                </a:solidFill>
              </a:rPr>
              <a:t>&gt;</a:t>
            </a:r>
          </a:p>
        </p:txBody>
      </p:sp>
      <p:sp>
        <p:nvSpPr>
          <p:cNvPr id="23" name="">
            <a:extLst>
              <a:ext uri="{FF2B5EF4-FFF2-40B4-BE49-F238E27FC236}">
                <ns2:creationId id="{C9665F25-694C-4EE2-96FF-EE29F1ACE6B0}"/>
              </a:ext>
            </a:extLst>
          </p:cNvPr>
          <p:cNvSpPr>
            <a:spLocks noGrp="1"/>
          </p:cNvSpPr>
          <p:nvPr/>
        </p:nvSpPr>
        <p:spPr>
          <a:xfrm>
            <a:off x="7600950" y="2476500"/>
            <a:ext cx="1847850" cy="1485900"/>
          </a:xfrm>
          <a:prstGeom prst="roundRect">
            <a:avLst>
              <a:gd name="adj" fmla="val 7692"/>
            </a:avLst>
          </a:prstGeom>
          <a:solidFill>
            <a:srgbClr val="1D293D"/>
          </a:solidFill>
          <a:ln w="9525">
            <a:solidFill>
              <a:srgbClr val="314158"/>
            </a:solidFill>
            <a:prstDash val="solid"/>
          </a:ln>
        </p:spPr>
      </p:sp>
      <p:sp>
        <p:nvSpPr>
          <p:cNvPr id="24" name="">
            <a:extLst>
              <a:ext uri="{FF2B5EF4-FFF2-40B4-BE49-F238E27FC236}">
                <ns2:creationId id="{EB0E4B11-9743-4240-BF9E-A1895C3ADBF2}"/>
              </a:ext>
            </a:extLst>
          </p:cNvPr>
          <p:cNvSpPr>
            <a:spLocks noGrp="1"/>
          </p:cNvSpPr>
          <p:nvPr/>
        </p:nvSpPr>
        <p:spPr>
          <a:xfrm>
            <a:off x="7791450" y="2743200"/>
            <a:ext cx="1466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Normalize</a:t>
            </a:r>
          </a:p>
        </p:txBody>
      </p:sp>
      <p:sp>
        <p:nvSpPr>
          <p:cNvPr id="25" name="">
            <a:extLst>
              <a:ext uri="{FF2B5EF4-FFF2-40B4-BE49-F238E27FC236}">
                <ns2:creationId id="{EC2B0017-8986-45C7-9EC9-47B7776477D1}"/>
              </a:ext>
            </a:extLst>
          </p:cNvPr>
          <p:cNvSpPr>
            <a:spLocks noGrp="1"/>
          </p:cNvSpPr>
          <p:nvPr/>
        </p:nvSpPr>
        <p:spPr>
          <a:xfrm>
            <a:off x="7772400" y="3219450"/>
            <a:ext cx="15049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0">
                <a:solidFill>
                  <a:srgbClr val="E2E8F0"/>
                </a:solidFill>
              </a:defRPr>
            </a:pPr>
            <a:r>
              <a:rPr sz="1050" b="0">
                <a:solidFill>
                  <a:srgbClr val="E2E8F0"/>
                </a:solidFill>
              </a:rPr>
              <a:t>Z-score image, preserve mask labels</a:t>
            </a:r>
          </a:p>
        </p:txBody>
      </p:sp>
      <p:sp>
        <p:nvSpPr>
          <p:cNvPr id="26" name="">
            <a:extLst>
              <a:ext uri="{FF2B5EF4-FFF2-40B4-BE49-F238E27FC236}">
                <ns2:creationId id="{FDB640B7-5FAA-4752-981A-36503C6C4CA1}"/>
              </a:ext>
            </a:extLst>
          </p:cNvPr>
          <p:cNvSpPr>
            <a:spLocks noGrp="1"/>
          </p:cNvSpPr>
          <p:nvPr/>
        </p:nvSpPr>
        <p:spPr>
          <a:xfrm>
            <a:off x="9505950" y="3048000"/>
            <a:ext cx="323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90A1B9"/>
                </a:solidFill>
              </a:defRPr>
            </a:pPr>
            <a:r>
              <a:rPr sz="1650" b="1">
                <a:solidFill>
                  <a:srgbClr val="90A1B9"/>
                </a:solidFill>
              </a:rPr>
              <a:t>&gt;</a:t>
            </a:r>
          </a:p>
        </p:txBody>
      </p:sp>
      <p:sp>
        <p:nvSpPr>
          <p:cNvPr id="27" name="">
            <a:extLst>
              <a:ext uri="{FF2B5EF4-FFF2-40B4-BE49-F238E27FC236}">
                <ns2:creationId id="{0EBD0DD1-1B5A-4F78-9C05-BD834B191F77}"/>
              </a:ext>
            </a:extLst>
          </p:cNvPr>
          <p:cNvSpPr>
            <a:spLocks noGrp="1"/>
          </p:cNvSpPr>
          <p:nvPr/>
        </p:nvSpPr>
        <p:spPr>
          <a:xfrm>
            <a:off x="9886950" y="2476500"/>
            <a:ext cx="1847850" cy="1485900"/>
          </a:xfrm>
          <a:prstGeom prst="roundRect">
            <a:avLst>
              <a:gd name="adj" fmla="val 7692"/>
            </a:avLst>
          </a:prstGeom>
          <a:solidFill>
            <a:srgbClr val="0F172B"/>
          </a:solidFill>
          <a:ln w="9525">
            <a:solidFill>
              <a:srgbClr val="314158"/>
            </a:solidFill>
            <a:prstDash val="solid"/>
          </a:ln>
        </p:spPr>
      </p:sp>
      <p:sp>
        <p:nvSpPr>
          <p:cNvPr id="28" name="">
            <a:extLst>
              <a:ext uri="{FF2B5EF4-FFF2-40B4-BE49-F238E27FC236}">
                <ns2:creationId id="{9638D88C-FB53-4C5C-A779-07884065326D}"/>
              </a:ext>
            </a:extLst>
          </p:cNvPr>
          <p:cNvSpPr>
            <a:spLocks noGrp="1"/>
          </p:cNvSpPr>
          <p:nvPr/>
        </p:nvSpPr>
        <p:spPr>
          <a:xfrm>
            <a:off x="10077450" y="2743200"/>
            <a:ext cx="1466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75" b="1">
                <a:solidFill>
                  <a:srgbClr val="FFD230"/>
                </a:solidFill>
              </a:defRPr>
            </a:pPr>
            <a:r>
              <a:rPr sz="1575" b="1">
                <a:solidFill>
                  <a:srgbClr val="FFD230"/>
                </a:solidFill>
              </a:rPr>
              <a:t>Save</a:t>
            </a:r>
          </a:p>
        </p:txBody>
      </p:sp>
      <p:sp>
        <p:nvSpPr>
          <p:cNvPr id="29" name="">
            <a:extLst>
              <a:ext uri="{FF2B5EF4-FFF2-40B4-BE49-F238E27FC236}">
                <ns2:creationId id="{BFE2D342-3FA6-4958-8ECE-84A99F5EC1DA}"/>
              </a:ext>
            </a:extLst>
          </p:cNvPr>
          <p:cNvSpPr>
            <a:spLocks noGrp="1"/>
          </p:cNvSpPr>
          <p:nvPr/>
        </p:nvSpPr>
        <p:spPr>
          <a:xfrm>
            <a:off x="10058400" y="3219450"/>
            <a:ext cx="15049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0">
                <a:solidFill>
                  <a:srgbClr val="E2E8F0"/>
                </a:solidFill>
              </a:defRPr>
            </a:pPr>
            <a:r>
              <a:rPr sz="1050" b="0">
                <a:solidFill>
                  <a:srgbClr val="E2E8F0"/>
                </a:solidFill>
              </a:rPr>
              <a:t>image_processed.npy and mask_processed.npy</a:t>
            </a:r>
          </a:p>
        </p:txBody>
      </p:sp>
      <p:sp>
        <p:nvSpPr>
          <p:cNvPr id="30" name="">
            <a:extLst>
              <a:ext uri="{FF2B5EF4-FFF2-40B4-BE49-F238E27FC236}">
                <ns2:creationId id="{A7323227-541C-4550-B450-6156448ACAB6}"/>
              </a:ext>
            </a:extLst>
          </p:cNvPr>
          <p:cNvSpPr>
            <a:spLocks noGrp="1"/>
          </p:cNvSpPr>
          <p:nvPr/>
        </p:nvSpPr>
        <p:spPr>
          <a:xfrm>
            <a:off x="1619250" y="4800600"/>
            <a:ext cx="8953500" cy="666750"/>
          </a:xfrm>
          <a:prstGeom prst="roundRect">
            <a:avLst>
              <a:gd name="adj" fmla="val 17143"/>
            </a:avLst>
          </a:prstGeom>
          <a:solidFill>
            <a:srgbClr val="0F172B"/>
          </a:solidFill>
          <a:ln w="9525">
            <a:solidFill>
              <a:srgbClr val="314158"/>
            </a:solidFill>
            <a:prstDash val="solid"/>
          </a:ln>
        </p:spPr>
      </p:sp>
      <p:sp>
        <p:nvSpPr>
          <p:cNvPr id="31" name="">
            <a:extLst>
              <a:ext uri="{FF2B5EF4-FFF2-40B4-BE49-F238E27FC236}">
                <ns2:creationId id="{B4820776-27A7-4D5C-990A-52E8EBDEB1B9}"/>
              </a:ext>
            </a:extLst>
          </p:cNvPr>
          <p:cNvSpPr>
            <a:spLocks noGrp="1"/>
          </p:cNvSpPr>
          <p:nvPr/>
        </p:nvSpPr>
        <p:spPr>
          <a:xfrm>
            <a:off x="1943100" y="5010150"/>
            <a:ext cx="83058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00D3F2"/>
                </a:solidFill>
              </a:defRPr>
            </a:pPr>
            <a:r>
              <a:rPr sz="1350" b="1">
                <a:solidFill>
                  <a:srgbClr val="00D3F2"/>
                </a:solidFill>
              </a:rPr>
              <a:t>Implementation detail: image interpolation uses order 1; mask interpolation uses nearest neighbor to keep labels discrete.</a:t>
            </a:r>
          </a:p>
        </p:txBody>
      </p:sp>
      <p:sp>
        <p:nvSpPr>
          <p:cNvPr id="32" name="">
            <a:extLst>
              <a:ext uri="{FF2B5EF4-FFF2-40B4-BE49-F238E27FC236}">
                <ns2:creationId id="{26953CAD-073A-49FC-A2A8-838415E154D5}"/>
              </a:ext>
            </a:extLst>
          </p:cNvPr>
          <p:cNvSpPr>
            <a:spLocks noGrp="1"/>
          </p:cNvSpPr>
          <p:nvPr/>
        </p:nvSpPr>
        <p:spPr>
          <a:xfrm>
            <a:off x="685800" y="6515100"/>
            <a:ext cx="3238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1">
                <a:solidFill>
                  <a:srgbClr val="62748E"/>
                </a:solidFill>
              </a:defRPr>
            </a:pPr>
            <a:r>
              <a:rPr sz="750" b="1">
                <a:solidFill>
                  <a:srgbClr val="62748E"/>
                </a:solidFill>
              </a:rPr>
              <a:t>3D Medical Image Intelligent Agent</a:t>
            </a:r>
          </a:p>
        </p:txBody>
      </p:sp>
      <p:sp>
        <p:nvSpPr>
          <p:cNvPr id="33" name="">
            <a:extLst>
              <a:ext uri="{FF2B5EF4-FFF2-40B4-BE49-F238E27FC236}">
                <ns2:creationId id="{9A790881-522E-49D3-9348-DB7941E5B4CF}"/>
              </a:ext>
            </a:extLst>
          </p:cNvPr>
          <p:cNvSpPr>
            <a:spLocks noGrp="1"/>
          </p:cNvSpPr>
          <p:nvPr/>
        </p:nvSpPr>
        <p:spPr>
          <a:xfrm>
            <a:off x="8096250" y="6515100"/>
            <a:ext cx="34099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750" b="1">
                <a:solidFill>
                  <a:srgbClr val="62748E"/>
                </a:solidFill>
              </a:defRPr>
            </a:pPr>
            <a:r>
              <a:rPr sz="750" b="1">
                <a:solidFill>
                  <a:srgbClr val="62748E"/>
                </a:solidFill>
              </a:rPr>
              <a:t>Local RAG | NIfTI | Segmentation | MedSAM</a:t>
            </a:r>
          </a:p>
        </p:txBody>
      </p:sp>
    </p:spTree>
    <p:extLst>
      <p:ext uri="{BB962C8B-B14F-4D97-AF65-F5344CB8AC3E}">
        <ns3:creationId val="392559658"/>
      </p:ext>
    </p:extLst>
  </p:cSld>
</p:sld>
</file>

<file path=ppt/slides/slide6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020618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" name="">
            <a:extLst>
              <a:ext uri="{FF2B5EF4-FFF2-40B4-BE49-F238E27FC236}">
                <ns2:creationId id="{A5701B59-81AF-4EBB-9067-5035B2C6953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20618"/>
          </a:solidFill>
          <a:ln w="9525">
            <a:solidFill>
              <a:srgbClr val="020618"/>
            </a:solidFill>
            <a:prstDash val="solid"/>
          </a:ln>
        </p:spPr>
      </p:sp>
      <p:sp>
        <p:nvSpPr>
          <p:cNvPr id="2" name="">
            <a:extLst>
              <a:ext uri="{FF2B5EF4-FFF2-40B4-BE49-F238E27FC236}">
                <ns2:creationId id="{BA04362A-593F-4626-B0B0-309CF1DC337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47625"/>
          </a:xfrm>
          <a:prstGeom prst="rect">
            <a:avLst/>
          </a:prstGeom>
          <a:solidFill>
            <a:srgbClr val="00D3F2"/>
          </a:solidFill>
          <a:ln w="9525">
            <a:solidFill>
              <a:srgbClr val="00D3F2"/>
            </a:solidFill>
            <a:prstDash val="solid"/>
          </a:ln>
        </p:spPr>
      </p:sp>
      <p:sp>
        <p:nvSpPr>
          <p:cNvPr id="3" name="">
            <a:extLst>
              <a:ext uri="{FF2B5EF4-FFF2-40B4-BE49-F238E27FC236}">
                <ns2:creationId id="{4A149B05-2C94-46E0-9696-4AFA51259337}"/>
              </a:ext>
            </a:extLst>
          </p:cNvPr>
          <p:cNvSpPr>
            <a:spLocks noGrp="1"/>
          </p:cNvSpPr>
          <p:nvPr/>
        </p:nvSpPr>
        <p:spPr>
          <a:xfrm>
            <a:off x="0" y="6810375"/>
            <a:ext cx="12192000" cy="47625"/>
          </a:xfrm>
          <a:prstGeom prst="rect">
            <a:avLst/>
          </a:prstGeom>
          <a:solidFill>
            <a:srgbClr val="1D293D"/>
          </a:solidFill>
          <a:ln w="9525">
            <a:solidFill>
              <a:srgbClr val="1D293D"/>
            </a:solidFill>
            <a:prstDash val="solid"/>
          </a:ln>
        </p:spPr>
      </p:sp>
      <p:sp>
        <p:nvSpPr>
          <p:cNvPr id="4" name="">
            <a:extLst>
              <a:ext uri="{FF2B5EF4-FFF2-40B4-BE49-F238E27FC236}">
                <ns2:creationId id="{A9DE3C27-9E75-49C1-BBFE-12F3CBEB6582}"/>
              </a:ext>
            </a:extLst>
          </p:cNvPr>
          <p:cNvSpPr>
            <a:spLocks noGrp="1"/>
          </p:cNvSpPr>
          <p:nvPr/>
        </p:nvSpPr>
        <p:spPr>
          <a:xfrm>
            <a:off x="8858250" y="-1619250"/>
            <a:ext cx="4095750" cy="4095750"/>
          </a:xfrm>
          <a:prstGeom prst="ellipse">
            <a:avLst/>
          </a:prstGeom>
          <a:solidFill>
            <a:srgbClr val="0F172B"/>
          </a:solidFill>
          <a:ln w="9525">
            <a:solidFill>
              <a:srgbClr val="0F172B"/>
            </a:solidFill>
            <a:prstDash val="solid"/>
          </a:ln>
        </p:spPr>
      </p:sp>
      <p:sp>
        <p:nvSpPr>
          <p:cNvPr id="5" name="">
            <a:extLst>
              <a:ext uri="{FF2B5EF4-FFF2-40B4-BE49-F238E27FC236}">
                <ns2:creationId id="{4B2E7E6E-4176-400D-9992-A0F7A36EDE20}"/>
              </a:ext>
            </a:extLst>
          </p:cNvPr>
          <p:cNvSpPr>
            <a:spLocks noGrp="1"/>
          </p:cNvSpPr>
          <p:nvPr/>
        </p:nvSpPr>
        <p:spPr>
          <a:xfrm>
            <a:off x="-2000250" y="4476750"/>
            <a:ext cx="3429000" cy="3429000"/>
          </a:xfrm>
          <a:prstGeom prst="ellipse">
            <a:avLst/>
          </a:prstGeom>
          <a:solidFill>
            <a:srgbClr val="0F172B"/>
          </a:solidFill>
          <a:ln w="9525">
            <a:solidFill>
              <a:srgbClr val="0F172B"/>
            </a:solidFill>
            <a:prstDash val="solid"/>
          </a:ln>
        </p:spPr>
      </p:sp>
      <p:sp>
        <p:nvSpPr>
          <p:cNvPr id="6" name="">
            <a:extLst>
              <a:ext uri="{FF2B5EF4-FFF2-40B4-BE49-F238E27FC236}">
                <ns2:creationId id="{E52BE399-4AC2-45CE-AEAE-70D3CE84F799}"/>
              </a:ext>
            </a:extLst>
          </p:cNvPr>
          <p:cNvSpPr>
            <a:spLocks noGrp="1"/>
          </p:cNvSpPr>
          <p:nvPr/>
        </p:nvSpPr>
        <p:spPr>
          <a:xfrm>
            <a:off x="685800" y="323850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00D3F2"/>
                </a:solidFill>
              </a:defRPr>
            </a:pPr>
            <a:r>
              <a:rPr sz="900" b="1">
                <a:solidFill>
                  <a:srgbClr val="00D3F2"/>
                </a:solidFill>
              </a:rPr>
              <a:t>SEGMENTATION WORKSPACE</a:t>
            </a:r>
          </a:p>
        </p:txBody>
      </p:sp>
      <p:sp>
        <p:nvSpPr>
          <p:cNvPr id="7" name="">
            <a:extLst>
              <a:ext uri="{FF2B5EF4-FFF2-40B4-BE49-F238E27FC236}">
                <ns2:creationId id="{8E7963AF-78A0-4788-841E-070C9DF04E5F}"/>
              </a:ext>
            </a:extLst>
          </p:cNvPr>
          <p:cNvSpPr>
            <a:spLocks noGrp="1"/>
          </p:cNvSpPr>
          <p:nvPr/>
        </p:nvSpPr>
        <p:spPr>
          <a:xfrm>
            <a:off x="11068050" y="32385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90A1B9"/>
                </a:solidFill>
              </a:defRPr>
            </a:pPr>
            <a:r>
              <a:rPr sz="900" b="1">
                <a:solidFill>
                  <a:srgbClr val="90A1B9"/>
                </a:solidFill>
              </a:rPr>
              <a:t>06</a:t>
            </a:r>
          </a:p>
        </p:txBody>
      </p:sp>
      <p:sp>
        <p:nvSpPr>
          <p:cNvPr id="8" name="">
            <a:extLst>
              <a:ext uri="{FF2B5EF4-FFF2-40B4-BE49-F238E27FC236}">
                <ns2:creationId id="{9499B361-061C-40C2-99DD-7F185C0FF024}"/>
              </a:ext>
            </a:extLst>
          </p:cNvPr>
          <p:cNvSpPr>
            <a:spLocks noGrp="1"/>
          </p:cNvSpPr>
          <p:nvPr/>
        </p:nvSpPr>
        <p:spPr>
          <a:xfrm>
            <a:off x="685800" y="685800"/>
            <a:ext cx="8953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Visual QA for labels and predictions</a:t>
            </a:r>
          </a:p>
        </p:txBody>
      </p:sp>
      <p:sp>
        <p:nvSpPr>
          <p:cNvPr id="9" name="">
            <a:extLst>
              <a:ext uri="{FF2B5EF4-FFF2-40B4-BE49-F238E27FC236}">
                <ns2:creationId id="{D236A31F-64AC-40BE-8648-26A09C658798}"/>
              </a:ext>
            </a:extLst>
          </p:cNvPr>
          <p:cNvSpPr>
            <a:spLocks noGrp="1"/>
          </p:cNvSpPr>
          <p:nvPr/>
        </p:nvSpPr>
        <p:spPr>
          <a:xfrm>
            <a:off x="685800" y="1257300"/>
            <a:ext cx="857250" cy="38100"/>
          </a:xfrm>
          <a:prstGeom prst="rect">
            <a:avLst/>
          </a:prstGeom>
          <a:solidFill>
            <a:srgbClr val="00D3F2"/>
          </a:solidFill>
          <a:ln w="9525">
            <a:solidFill>
              <a:srgbClr val="00D3F2"/>
            </a:solidFill>
            <a:prstDash val="solid"/>
          </a:ln>
        </p:spPr>
      </p:sp>
      <p:sp>
        <p:nvSpPr>
          <p:cNvPr id="10" name="">
            <a:extLst>
              <a:ext uri="{FF2B5EF4-FFF2-40B4-BE49-F238E27FC236}">
                <ns2:creationId id="{04E2CF44-985E-405D-B2D0-9784D92E1032}"/>
              </a:ext>
            </a:extLst>
          </p:cNvPr>
          <p:cNvSpPr>
            <a:spLocks noGrp="1"/>
          </p:cNvSpPr>
          <p:nvPr/>
        </p:nvSpPr>
        <p:spPr>
          <a:xfrm>
            <a:off x="819150" y="1943100"/>
            <a:ext cx="4895850" cy="3276600"/>
          </a:xfrm>
          <a:prstGeom prst="roundRect">
            <a:avLst>
              <a:gd name="adj" fmla="val 3488"/>
            </a:avLst>
          </a:prstGeom>
          <a:solidFill>
            <a:srgbClr val="0F172B"/>
          </a:solidFill>
          <a:ln w="9525">
            <a:solidFill>
              <a:srgbClr val="314158"/>
            </a:solidFill>
            <a:prstDash val="solid"/>
          </a:ln>
        </p:spPr>
      </p:sp>
      <p:sp>
        <p:nvSpPr>
          <p:cNvPr id="11" name="">
            <a:extLst>
              <a:ext uri="{FF2B5EF4-FFF2-40B4-BE49-F238E27FC236}">
                <ns2:creationId id="{8ADE6894-E097-4DD3-9DB8-209A3D3412F0}"/>
              </a:ext>
            </a:extLst>
          </p:cNvPr>
          <p:cNvSpPr>
            <a:spLocks noGrp="1"/>
          </p:cNvSpPr>
          <p:nvPr/>
        </p:nvSpPr>
        <p:spPr>
          <a:xfrm>
            <a:off x="1181100" y="2266950"/>
            <a:ext cx="2857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Interactive controls</a:t>
            </a:r>
          </a:p>
        </p:txBody>
      </p:sp>
      <p:sp>
        <p:nvSpPr>
          <p:cNvPr id="12" name="">
            <a:extLst>
              <a:ext uri="{FF2B5EF4-FFF2-40B4-BE49-F238E27FC236}">
                <ns2:creationId id="{E4729183-E665-4A6C-954B-B9BD618B9B7F}"/>
              </a:ext>
            </a:extLst>
          </p:cNvPr>
          <p:cNvSpPr>
            <a:spLocks noGrp="1"/>
          </p:cNvSpPr>
          <p:nvPr/>
        </p:nvSpPr>
        <p:spPr>
          <a:xfrm>
            <a:off x="1257300" y="2914650"/>
            <a:ext cx="3429000" cy="1409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E2E8F0"/>
                </a:solidFill>
              </a:defRPr>
            </a:pPr>
            <a:r>
              <a:rPr sz="1350" b="0">
                <a:solidFill>
                  <a:srgbClr val="E2E8F0"/>
                </a:solidFill>
              </a:rPr>
              <a:t>- Dataset directory</a:t>
            </a:r>
          </a:p>
          <a:p>
            <a:pPr algn="l">
              <a:defRPr sz="1350" b="0">
                <a:solidFill>
                  <a:srgbClr val="E2E8F0"/>
                </a:solidFill>
              </a:defRPr>
            </a:pPr>
            <a:r>
              <a:rPr sz="1350" b="0">
                <a:solidFill>
                  <a:srgbClr val="E2E8F0"/>
                </a:solidFill>
              </a:rPr>
              <a:t>- Case selector</a:t>
            </a:r>
          </a:p>
          <a:p>
            <a:pPr algn="l">
              <a:defRPr sz="1350" b="0">
                <a:solidFill>
                  <a:srgbClr val="E2E8F0"/>
                </a:solidFill>
              </a:defRPr>
            </a:pPr>
            <a:r>
              <a:rPr sz="1350" b="0">
                <a:solidFill>
                  <a:srgbClr val="E2E8F0"/>
                </a:solidFill>
              </a:rPr>
              <a:t>- Axis and slice slider</a:t>
            </a:r>
          </a:p>
          <a:p>
            <a:pPr algn="l">
              <a:defRPr sz="1350" b="0">
                <a:solidFill>
                  <a:srgbClr val="E2E8F0"/>
                </a:solidFill>
              </a:defRPr>
            </a:pPr>
            <a:r>
              <a:rPr sz="1350" b="0">
                <a:solidFill>
                  <a:srgbClr val="E2E8F0"/>
                </a:solidFill>
              </a:rPr>
              <a:t>- Overlay opacity</a:t>
            </a:r>
          </a:p>
          <a:p>
            <a:pPr algn="l">
              <a:defRPr sz="1350" b="0">
                <a:solidFill>
                  <a:srgbClr val="E2E8F0"/>
                </a:solidFill>
              </a:defRPr>
            </a:pPr>
            <a:r>
              <a:rPr sz="1350" b="0">
                <a:solidFill>
                  <a:srgbClr val="E2E8F0"/>
                </a:solidFill>
              </a:rPr>
              <a:t>- Ground truth or model prediction</a:t>
            </a:r>
          </a:p>
        </p:txBody>
      </p:sp>
      <p:sp>
        <p:nvSpPr>
          <p:cNvPr id="13" name="">
            <a:extLst>
              <a:ext uri="{FF2B5EF4-FFF2-40B4-BE49-F238E27FC236}">
                <ns2:creationId id="{065F2E61-2C57-46C1-96FB-617B22AB1B9F}"/>
              </a:ext>
            </a:extLst>
          </p:cNvPr>
          <p:cNvSpPr>
            <a:spLocks noGrp="1"/>
          </p:cNvSpPr>
          <p:nvPr/>
        </p:nvSpPr>
        <p:spPr>
          <a:xfrm>
            <a:off x="3276600" y="3028950"/>
            <a:ext cx="1828800" cy="1123950"/>
          </a:xfrm>
          <a:prstGeom prst="roundRect">
            <a:avLst>
              <a:gd name="adj" fmla="val 10169"/>
            </a:avLst>
          </a:prstGeom>
          <a:solidFill>
            <a:srgbClr val="1D293D"/>
          </a:solidFill>
          <a:ln w="9525">
            <a:solidFill>
              <a:srgbClr val="45556C"/>
            </a:solidFill>
            <a:prstDash val="solid"/>
          </a:ln>
        </p:spPr>
      </p:sp>
      <p:sp>
        <p:nvSpPr>
          <p:cNvPr id="14" name="">
            <a:extLst>
              <a:ext uri="{FF2B5EF4-FFF2-40B4-BE49-F238E27FC236}">
                <ns2:creationId id="{241290CB-D6E0-4A98-9FFD-1FE284D72580}"/>
              </a:ext>
            </a:extLst>
          </p:cNvPr>
          <p:cNvSpPr>
            <a:spLocks noGrp="1"/>
          </p:cNvSpPr>
          <p:nvPr/>
        </p:nvSpPr>
        <p:spPr>
          <a:xfrm>
            <a:off x="3676650" y="3314700"/>
            <a:ext cx="10287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00A6F4"/>
                </a:solidFill>
              </a:defRPr>
            </a:pPr>
            <a:r>
              <a:rPr sz="1350" b="1">
                <a:solidFill>
                  <a:srgbClr val="00A6F4"/>
                </a:solidFill>
              </a:rPr>
              <a:t>Image</a:t>
            </a:r>
          </a:p>
        </p:txBody>
      </p:sp>
      <p:sp>
        <p:nvSpPr>
          <p:cNvPr id="15" name="">
            <a:extLst>
              <a:ext uri="{FF2B5EF4-FFF2-40B4-BE49-F238E27FC236}">
                <ns2:creationId id="{F704260D-0208-4318-A67B-DF0FFFBD480C}"/>
              </a:ext>
            </a:extLst>
          </p:cNvPr>
          <p:cNvSpPr>
            <a:spLocks noGrp="1"/>
          </p:cNvSpPr>
          <p:nvPr/>
        </p:nvSpPr>
        <p:spPr>
          <a:xfrm>
            <a:off x="3676650" y="3657600"/>
            <a:ext cx="10287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A684FF"/>
                </a:solidFill>
              </a:defRPr>
            </a:pPr>
            <a:r>
              <a:rPr sz="1350" b="1">
                <a:solidFill>
                  <a:srgbClr val="A684FF"/>
                </a:solidFill>
              </a:rPr>
              <a:t>+ Mask</a:t>
            </a:r>
          </a:p>
        </p:txBody>
      </p:sp>
      <p:sp>
        <p:nvSpPr>
          <p:cNvPr id="16" name="">
            <a:extLst>
              <a:ext uri="{FF2B5EF4-FFF2-40B4-BE49-F238E27FC236}">
                <ns2:creationId id="{201BBE94-F9F2-410B-BD9F-02FDBE34883B}"/>
              </a:ext>
            </a:extLst>
          </p:cNvPr>
          <p:cNvSpPr>
            <a:spLocks noGrp="1"/>
          </p:cNvSpPr>
          <p:nvPr/>
        </p:nvSpPr>
        <p:spPr>
          <a:xfrm>
            <a:off x="6477000" y="1943100"/>
            <a:ext cx="4895850" cy="3276600"/>
          </a:xfrm>
          <a:prstGeom prst="roundRect">
            <a:avLst>
              <a:gd name="adj" fmla="val 3488"/>
            </a:avLst>
          </a:prstGeom>
          <a:solidFill>
            <a:srgbClr val="0F172B"/>
          </a:solidFill>
          <a:ln w="9525">
            <a:solidFill>
              <a:srgbClr val="314158"/>
            </a:solidFill>
            <a:prstDash val="solid"/>
          </a:ln>
        </p:spPr>
      </p:sp>
      <p:sp>
        <p:nvSpPr>
          <p:cNvPr id="17" name="">
            <a:extLst>
              <a:ext uri="{FF2B5EF4-FFF2-40B4-BE49-F238E27FC236}">
                <ns2:creationId id="{C6ACA536-3E67-4CE8-90F0-85D6763DC1A1}"/>
              </a:ext>
            </a:extLst>
          </p:cNvPr>
          <p:cNvSpPr>
            <a:spLocks noGrp="1"/>
          </p:cNvSpPr>
          <p:nvPr/>
        </p:nvSpPr>
        <p:spPr>
          <a:xfrm>
            <a:off x="6838950" y="2266950"/>
            <a:ext cx="2857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Metric output</a:t>
            </a:r>
          </a:p>
        </p:txBody>
      </p:sp>
      <p:sp>
        <p:nvSpPr>
          <p:cNvPr id="18" name="">
            <a:extLst>
              <a:ext uri="{FF2B5EF4-FFF2-40B4-BE49-F238E27FC236}">
                <ns2:creationId id="{9AF98E8F-839C-4C4A-A396-866953F659C0}"/>
              </a:ext>
            </a:extLst>
          </p:cNvPr>
          <p:cNvSpPr>
            <a:spLocks noGrp="1"/>
          </p:cNvSpPr>
          <p:nvPr/>
        </p:nvSpPr>
        <p:spPr>
          <a:xfrm>
            <a:off x="6877050" y="2990850"/>
            <a:ext cx="1714500" cy="609600"/>
          </a:xfrm>
          <a:prstGeom prst="roundRect">
            <a:avLst>
              <a:gd name="adj" fmla="val 18750"/>
            </a:avLst>
          </a:prstGeom>
          <a:solidFill>
            <a:srgbClr val="1D293D"/>
          </a:solidFill>
          <a:ln w="9525">
            <a:solidFill>
              <a:srgbClr val="314158"/>
            </a:solidFill>
            <a:prstDash val="solid"/>
          </a:ln>
        </p:spPr>
      </p:sp>
      <p:sp>
        <p:nvSpPr>
          <p:cNvPr id="19" name="">
            <a:extLst>
              <a:ext uri="{FF2B5EF4-FFF2-40B4-BE49-F238E27FC236}">
                <ns2:creationId id="{3FC830A5-74DF-482B-A153-CB072627DA25}"/>
              </a:ext>
            </a:extLst>
          </p:cNvPr>
          <p:cNvSpPr>
            <a:spLocks noGrp="1"/>
          </p:cNvSpPr>
          <p:nvPr/>
        </p:nvSpPr>
        <p:spPr>
          <a:xfrm>
            <a:off x="7048500" y="3190875"/>
            <a:ext cx="1371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00D3F2"/>
                </a:solidFill>
              </a:defRPr>
            </a:pPr>
            <a:r>
              <a:rPr sz="1350" b="1">
                <a:solidFill>
                  <a:srgbClr val="00D3F2"/>
                </a:solidFill>
              </a:rPr>
              <a:t>Slice Dice</a:t>
            </a:r>
          </a:p>
        </p:txBody>
      </p:sp>
      <p:sp>
        <p:nvSpPr>
          <p:cNvPr id="20" name="">
            <a:extLst>
              <a:ext uri="{FF2B5EF4-FFF2-40B4-BE49-F238E27FC236}">
                <ns2:creationId id="{6B4BC7F9-07E6-44CD-844C-DBDA857A9947}"/>
              </a:ext>
            </a:extLst>
          </p:cNvPr>
          <p:cNvSpPr>
            <a:spLocks noGrp="1"/>
          </p:cNvSpPr>
          <p:nvPr/>
        </p:nvSpPr>
        <p:spPr>
          <a:xfrm>
            <a:off x="9010650" y="2990850"/>
            <a:ext cx="1714500" cy="609600"/>
          </a:xfrm>
          <a:prstGeom prst="roundRect">
            <a:avLst>
              <a:gd name="adj" fmla="val 18750"/>
            </a:avLst>
          </a:prstGeom>
          <a:solidFill>
            <a:srgbClr val="1D293D"/>
          </a:solidFill>
          <a:ln w="9525">
            <a:solidFill>
              <a:srgbClr val="314158"/>
            </a:solidFill>
            <a:prstDash val="solid"/>
          </a:ln>
        </p:spPr>
      </p:sp>
      <p:sp>
        <p:nvSpPr>
          <p:cNvPr id="21" name="">
            <a:extLst>
              <a:ext uri="{FF2B5EF4-FFF2-40B4-BE49-F238E27FC236}">
                <ns2:creationId id="{BECF0CEE-E943-4A0F-AB34-58FD45D34477}"/>
              </a:ext>
            </a:extLst>
          </p:cNvPr>
          <p:cNvSpPr>
            <a:spLocks noGrp="1"/>
          </p:cNvSpPr>
          <p:nvPr/>
        </p:nvSpPr>
        <p:spPr>
          <a:xfrm>
            <a:off x="9182100" y="3190875"/>
            <a:ext cx="1371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00D492"/>
                </a:solidFill>
              </a:defRPr>
            </a:pPr>
            <a:r>
              <a:rPr sz="1350" b="1">
                <a:solidFill>
                  <a:srgbClr val="00D492"/>
                </a:solidFill>
              </a:rPr>
              <a:t>Slice IoU</a:t>
            </a:r>
          </a:p>
        </p:txBody>
      </p:sp>
      <p:sp>
        <p:nvSpPr>
          <p:cNvPr id="22" name="">
            <a:extLst>
              <a:ext uri="{FF2B5EF4-FFF2-40B4-BE49-F238E27FC236}">
                <ns2:creationId id="{5E2AF1D2-D1B2-4DB6-B821-54EB4818C1BC}"/>
              </a:ext>
            </a:extLst>
          </p:cNvPr>
          <p:cNvSpPr>
            <a:spLocks noGrp="1"/>
          </p:cNvSpPr>
          <p:nvPr/>
        </p:nvSpPr>
        <p:spPr>
          <a:xfrm>
            <a:off x="6877050" y="3886200"/>
            <a:ext cx="1714500" cy="609600"/>
          </a:xfrm>
          <a:prstGeom prst="roundRect">
            <a:avLst>
              <a:gd name="adj" fmla="val 18750"/>
            </a:avLst>
          </a:prstGeom>
          <a:solidFill>
            <a:srgbClr val="1D293D"/>
          </a:solidFill>
          <a:ln w="9525">
            <a:solidFill>
              <a:srgbClr val="314158"/>
            </a:solidFill>
            <a:prstDash val="solid"/>
          </a:ln>
        </p:spPr>
      </p:sp>
      <p:sp>
        <p:nvSpPr>
          <p:cNvPr id="23" name="">
            <a:extLst>
              <a:ext uri="{FF2B5EF4-FFF2-40B4-BE49-F238E27FC236}">
                <ns2:creationId id="{D33C3196-C3B3-46EE-845C-356DFC0660DF}"/>
              </a:ext>
            </a:extLst>
          </p:cNvPr>
          <p:cNvSpPr>
            <a:spLocks noGrp="1"/>
          </p:cNvSpPr>
          <p:nvPr/>
        </p:nvSpPr>
        <p:spPr>
          <a:xfrm>
            <a:off x="7048500" y="4086225"/>
            <a:ext cx="1371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A684FF"/>
                </a:solidFill>
              </a:defRPr>
            </a:pPr>
            <a:r>
              <a:rPr sz="1350" b="1">
                <a:solidFill>
                  <a:srgbClr val="A684FF"/>
                </a:solidFill>
              </a:rPr>
              <a:t>3D Dice</a:t>
            </a:r>
          </a:p>
        </p:txBody>
      </p:sp>
      <p:sp>
        <p:nvSpPr>
          <p:cNvPr id="24" name="">
            <a:extLst>
              <a:ext uri="{FF2B5EF4-FFF2-40B4-BE49-F238E27FC236}">
                <ns2:creationId id="{8B891F38-86BF-4E07-83D9-123BEC87E009}"/>
              </a:ext>
            </a:extLst>
          </p:cNvPr>
          <p:cNvSpPr>
            <a:spLocks noGrp="1"/>
          </p:cNvSpPr>
          <p:nvPr/>
        </p:nvSpPr>
        <p:spPr>
          <a:xfrm>
            <a:off x="9010650" y="3886200"/>
            <a:ext cx="1714500" cy="609600"/>
          </a:xfrm>
          <a:prstGeom prst="roundRect">
            <a:avLst>
              <a:gd name="adj" fmla="val 18750"/>
            </a:avLst>
          </a:prstGeom>
          <a:solidFill>
            <a:srgbClr val="1D293D"/>
          </a:solidFill>
          <a:ln w="9525">
            <a:solidFill>
              <a:srgbClr val="314158"/>
            </a:solidFill>
            <a:prstDash val="solid"/>
          </a:ln>
        </p:spPr>
      </p:sp>
      <p:sp>
        <p:nvSpPr>
          <p:cNvPr id="25" name="">
            <a:extLst>
              <a:ext uri="{FF2B5EF4-FFF2-40B4-BE49-F238E27FC236}">
                <ns2:creationId id="{2D9E4431-D25F-43F4-BA1D-94D4EDB843C0}"/>
              </a:ext>
            </a:extLst>
          </p:cNvPr>
          <p:cNvSpPr>
            <a:spLocks noGrp="1"/>
          </p:cNvSpPr>
          <p:nvPr/>
        </p:nvSpPr>
        <p:spPr>
          <a:xfrm>
            <a:off x="9182100" y="4086225"/>
            <a:ext cx="1371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FFD230"/>
                </a:solidFill>
              </a:defRPr>
            </a:pPr>
            <a:r>
              <a:rPr sz="1350" b="1">
                <a:solidFill>
                  <a:srgbClr val="FFD230"/>
                </a:solidFill>
              </a:rPr>
              <a:t>3D IoU</a:t>
            </a:r>
          </a:p>
        </p:txBody>
      </p:sp>
      <p:sp>
        <p:nvSpPr>
          <p:cNvPr id="26" name="">
            <a:extLst>
              <a:ext uri="{FF2B5EF4-FFF2-40B4-BE49-F238E27FC236}">
                <ns2:creationId id="{2F455483-A8F4-49D8-B588-FDA90820D395}"/>
              </a:ext>
            </a:extLst>
          </p:cNvPr>
          <p:cNvSpPr>
            <a:spLocks noGrp="1"/>
          </p:cNvSpPr>
          <p:nvPr/>
        </p:nvSpPr>
        <p:spPr>
          <a:xfrm>
            <a:off x="685800" y="6515100"/>
            <a:ext cx="3238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1">
                <a:solidFill>
                  <a:srgbClr val="62748E"/>
                </a:solidFill>
              </a:defRPr>
            </a:pPr>
            <a:r>
              <a:rPr sz="750" b="1">
                <a:solidFill>
                  <a:srgbClr val="62748E"/>
                </a:solidFill>
              </a:rPr>
              <a:t>3D Medical Image Intelligent Agent</a:t>
            </a:r>
          </a:p>
        </p:txBody>
      </p:sp>
      <p:sp>
        <p:nvSpPr>
          <p:cNvPr id="27" name="">
            <a:extLst>
              <a:ext uri="{FF2B5EF4-FFF2-40B4-BE49-F238E27FC236}">
                <ns2:creationId id="{6185FE28-290A-4FF8-80F7-B3358841DC1E}"/>
              </a:ext>
            </a:extLst>
          </p:cNvPr>
          <p:cNvSpPr>
            <a:spLocks noGrp="1"/>
          </p:cNvSpPr>
          <p:nvPr/>
        </p:nvSpPr>
        <p:spPr>
          <a:xfrm>
            <a:off x="8096250" y="6515100"/>
            <a:ext cx="34099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750" b="1">
                <a:solidFill>
                  <a:srgbClr val="62748E"/>
                </a:solidFill>
              </a:defRPr>
            </a:pPr>
            <a:r>
              <a:rPr sz="750" b="1">
                <a:solidFill>
                  <a:srgbClr val="62748E"/>
                </a:solidFill>
              </a:rPr>
              <a:t>Local RAG | NIfTI | Segmentation | MedSAM</a:t>
            </a:r>
          </a:p>
        </p:txBody>
      </p:sp>
    </p:spTree>
    <p:extLst>
      <p:ext uri="{BB962C8B-B14F-4D97-AF65-F5344CB8AC3E}">
        <ns3:creationId val="625318075"/>
      </p:ext>
    </p:extLst>
  </p:cSld>
</p:sld>
</file>

<file path=ppt/slides/slide7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020618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" name="">
            <a:extLst>
              <a:ext uri="{FF2B5EF4-FFF2-40B4-BE49-F238E27FC236}">
                <ns2:creationId id="{010B24F4-033A-40EF-BD6F-DFF997ADBF7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20618"/>
          </a:solidFill>
          <a:ln w="9525">
            <a:solidFill>
              <a:srgbClr val="020618"/>
            </a:solidFill>
            <a:prstDash val="solid"/>
          </a:ln>
        </p:spPr>
      </p:sp>
      <p:sp>
        <p:nvSpPr>
          <p:cNvPr id="2" name="">
            <a:extLst>
              <a:ext uri="{FF2B5EF4-FFF2-40B4-BE49-F238E27FC236}">
                <ns2:creationId id="{27DFC612-9275-4A66-ACBA-C0C71350323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47625"/>
          </a:xfrm>
          <a:prstGeom prst="rect">
            <a:avLst/>
          </a:prstGeom>
          <a:solidFill>
            <a:srgbClr val="00D3F2"/>
          </a:solidFill>
          <a:ln w="9525">
            <a:solidFill>
              <a:srgbClr val="00D3F2"/>
            </a:solidFill>
            <a:prstDash val="solid"/>
          </a:ln>
        </p:spPr>
      </p:sp>
      <p:sp>
        <p:nvSpPr>
          <p:cNvPr id="3" name="">
            <a:extLst>
              <a:ext uri="{FF2B5EF4-FFF2-40B4-BE49-F238E27FC236}">
                <ns2:creationId id="{C1881E30-A4BE-4F45-8C72-47205FE00DD2}"/>
              </a:ext>
            </a:extLst>
          </p:cNvPr>
          <p:cNvSpPr>
            <a:spLocks noGrp="1"/>
          </p:cNvSpPr>
          <p:nvPr/>
        </p:nvSpPr>
        <p:spPr>
          <a:xfrm>
            <a:off x="0" y="6810375"/>
            <a:ext cx="12192000" cy="47625"/>
          </a:xfrm>
          <a:prstGeom prst="rect">
            <a:avLst/>
          </a:prstGeom>
          <a:solidFill>
            <a:srgbClr val="1D293D"/>
          </a:solidFill>
          <a:ln w="9525">
            <a:solidFill>
              <a:srgbClr val="1D293D"/>
            </a:solidFill>
            <a:prstDash val="solid"/>
          </a:ln>
        </p:spPr>
      </p:sp>
      <p:sp>
        <p:nvSpPr>
          <p:cNvPr id="4" name="">
            <a:extLst>
              <a:ext uri="{FF2B5EF4-FFF2-40B4-BE49-F238E27FC236}">
                <ns2:creationId id="{6958DC4B-7315-452B-AF51-44C86E6032F1}"/>
              </a:ext>
            </a:extLst>
          </p:cNvPr>
          <p:cNvSpPr>
            <a:spLocks noGrp="1"/>
          </p:cNvSpPr>
          <p:nvPr/>
        </p:nvSpPr>
        <p:spPr>
          <a:xfrm>
            <a:off x="8858250" y="-1619250"/>
            <a:ext cx="4095750" cy="4095750"/>
          </a:xfrm>
          <a:prstGeom prst="ellipse">
            <a:avLst/>
          </a:prstGeom>
          <a:solidFill>
            <a:srgbClr val="0F172B"/>
          </a:solidFill>
          <a:ln w="9525">
            <a:solidFill>
              <a:srgbClr val="0F172B"/>
            </a:solidFill>
            <a:prstDash val="solid"/>
          </a:ln>
        </p:spPr>
      </p:sp>
      <p:sp>
        <p:nvSpPr>
          <p:cNvPr id="5" name="">
            <a:extLst>
              <a:ext uri="{FF2B5EF4-FFF2-40B4-BE49-F238E27FC236}">
                <ns2:creationId id="{AEFB295B-EFDA-4EA2-8860-DDA756254318}"/>
              </a:ext>
            </a:extLst>
          </p:cNvPr>
          <p:cNvSpPr>
            <a:spLocks noGrp="1"/>
          </p:cNvSpPr>
          <p:nvPr/>
        </p:nvSpPr>
        <p:spPr>
          <a:xfrm>
            <a:off x="-2000250" y="4476750"/>
            <a:ext cx="3429000" cy="3429000"/>
          </a:xfrm>
          <a:prstGeom prst="ellipse">
            <a:avLst/>
          </a:prstGeom>
          <a:solidFill>
            <a:srgbClr val="0F172B"/>
          </a:solidFill>
          <a:ln w="9525">
            <a:solidFill>
              <a:srgbClr val="0F172B"/>
            </a:solidFill>
            <a:prstDash val="solid"/>
          </a:ln>
        </p:spPr>
      </p:sp>
      <p:sp>
        <p:nvSpPr>
          <p:cNvPr id="6" name="">
            <a:extLst>
              <a:ext uri="{FF2B5EF4-FFF2-40B4-BE49-F238E27FC236}">
                <ns2:creationId id="{71012DB5-64BF-479A-85A8-9DB424CDABAF}"/>
              </a:ext>
            </a:extLst>
          </p:cNvPr>
          <p:cNvSpPr>
            <a:spLocks noGrp="1"/>
          </p:cNvSpPr>
          <p:nvPr/>
        </p:nvSpPr>
        <p:spPr>
          <a:xfrm>
            <a:off x="685800" y="323850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00D3F2"/>
                </a:solidFill>
              </a:defRPr>
            </a:pPr>
            <a:r>
              <a:rPr sz="900" b="1">
                <a:solidFill>
                  <a:srgbClr val="00D3F2"/>
                </a:solidFill>
              </a:rPr>
              <a:t>MODEL PREDICTION WORKFLOW</a:t>
            </a:r>
          </a:p>
        </p:txBody>
      </p:sp>
      <p:sp>
        <p:nvSpPr>
          <p:cNvPr id="7" name="">
            <a:extLst>
              <a:ext uri="{FF2B5EF4-FFF2-40B4-BE49-F238E27FC236}">
                <ns2:creationId id="{7DFDC7C5-C40C-4775-BF5B-30B6FA4D191B}"/>
              </a:ext>
            </a:extLst>
          </p:cNvPr>
          <p:cNvSpPr>
            <a:spLocks noGrp="1"/>
          </p:cNvSpPr>
          <p:nvPr/>
        </p:nvSpPr>
        <p:spPr>
          <a:xfrm>
            <a:off x="11068050" y="32385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90A1B9"/>
                </a:solidFill>
              </a:defRPr>
            </a:pPr>
            <a:r>
              <a:rPr sz="900" b="1">
                <a:solidFill>
                  <a:srgbClr val="90A1B9"/>
                </a:solidFill>
              </a:rPr>
              <a:t>07</a:t>
            </a:r>
          </a:p>
        </p:txBody>
      </p:sp>
      <p:sp>
        <p:nvSpPr>
          <p:cNvPr id="8" name="">
            <a:extLst>
              <a:ext uri="{FF2B5EF4-FFF2-40B4-BE49-F238E27FC236}">
                <ns2:creationId id="{599FF2A9-4FC2-49E3-B722-984C5960A4EA}"/>
              </a:ext>
            </a:extLst>
          </p:cNvPr>
          <p:cNvSpPr>
            <a:spLocks noGrp="1"/>
          </p:cNvSpPr>
          <p:nvPr/>
        </p:nvSpPr>
        <p:spPr>
          <a:xfrm>
            <a:off x="685800" y="685800"/>
            <a:ext cx="8953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MedSAM inference inside the visual lab</a:t>
            </a:r>
          </a:p>
        </p:txBody>
      </p:sp>
      <p:sp>
        <p:nvSpPr>
          <p:cNvPr id="9" name="">
            <a:extLst>
              <a:ext uri="{FF2B5EF4-FFF2-40B4-BE49-F238E27FC236}">
                <ns2:creationId id="{1DB5FB52-6C74-4CE6-B2F8-D241AB48D55E}"/>
              </a:ext>
            </a:extLst>
          </p:cNvPr>
          <p:cNvSpPr>
            <a:spLocks noGrp="1"/>
          </p:cNvSpPr>
          <p:nvPr/>
        </p:nvSpPr>
        <p:spPr>
          <a:xfrm>
            <a:off x="685800" y="1257300"/>
            <a:ext cx="857250" cy="38100"/>
          </a:xfrm>
          <a:prstGeom prst="rect">
            <a:avLst/>
          </a:prstGeom>
          <a:solidFill>
            <a:srgbClr val="00D3F2"/>
          </a:solidFill>
          <a:ln w="9525">
            <a:solidFill>
              <a:srgbClr val="00D3F2"/>
            </a:solidFill>
            <a:prstDash val="solid"/>
          </a:ln>
        </p:spPr>
      </p:sp>
      <p:sp>
        <p:nvSpPr>
          <p:cNvPr id="10" name="">
            <a:extLst>
              <a:ext uri="{FF2B5EF4-FFF2-40B4-BE49-F238E27FC236}">
                <ns2:creationId id="{4003C650-B401-4705-9B6D-5C891537DDD0}"/>
              </a:ext>
            </a:extLst>
          </p:cNvPr>
          <p:cNvSpPr>
            <a:spLocks noGrp="1"/>
          </p:cNvSpPr>
          <p:nvPr/>
        </p:nvSpPr>
        <p:spPr>
          <a:xfrm>
            <a:off x="685800" y="1466850"/>
            <a:ext cx="9715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E2E8F0"/>
                </a:solidFill>
              </a:defRPr>
            </a:pPr>
            <a:r>
              <a:rPr sz="1575" b="0">
                <a:solidFill>
                  <a:srgbClr val="E2E8F0"/>
                </a:solidFill>
              </a:rPr>
              <a:t>The prediction workflow connects the visual lab to MedSAM through a clean adapter boundary.</a:t>
            </a:r>
          </a:p>
        </p:txBody>
      </p:sp>
      <p:sp>
        <p:nvSpPr>
          <p:cNvPr id="11" name="">
            <a:extLst>
              <a:ext uri="{FF2B5EF4-FFF2-40B4-BE49-F238E27FC236}">
                <ns2:creationId id="{6958C400-D5B0-4BBD-8FCC-865BC4AC9D7E}"/>
              </a:ext>
            </a:extLst>
          </p:cNvPr>
          <p:cNvSpPr>
            <a:spLocks noGrp="1"/>
          </p:cNvSpPr>
          <p:nvPr/>
        </p:nvSpPr>
        <p:spPr>
          <a:xfrm>
            <a:off x="876300" y="2381250"/>
            <a:ext cx="2324100" cy="1809750"/>
          </a:xfrm>
          <a:prstGeom prst="roundRect">
            <a:avLst>
              <a:gd name="adj" fmla="val 6316"/>
            </a:avLst>
          </a:prstGeom>
          <a:solidFill>
            <a:srgbClr val="0F172B"/>
          </a:solidFill>
          <a:ln w="9525">
            <a:solidFill>
              <a:srgbClr val="314158"/>
            </a:solidFill>
            <a:prstDash val="solid"/>
          </a:ln>
        </p:spPr>
      </p:sp>
      <p:sp>
        <p:nvSpPr>
          <p:cNvPr id="12" name="">
            <a:extLst>
              <a:ext uri="{FF2B5EF4-FFF2-40B4-BE49-F238E27FC236}">
                <ns2:creationId id="{B0537A15-3D10-458A-B4CA-6146D65442FD}"/>
              </a:ext>
            </a:extLst>
          </p:cNvPr>
          <p:cNvSpPr>
            <a:spLocks noGrp="1"/>
          </p:cNvSpPr>
          <p:nvPr/>
        </p:nvSpPr>
        <p:spPr>
          <a:xfrm>
            <a:off x="1085850" y="2628900"/>
            <a:ext cx="400050" cy="400050"/>
          </a:xfrm>
          <a:prstGeom prst="ellipse">
            <a:avLst/>
          </a:prstGeom>
          <a:solidFill>
            <a:srgbClr val="00D3F2"/>
          </a:solidFill>
          <a:ln w="9525">
            <a:solidFill>
              <a:srgbClr val="00D3F2"/>
            </a:solidFill>
            <a:prstDash val="solid"/>
          </a:ln>
        </p:spPr>
      </p:sp>
      <p:sp>
        <p:nvSpPr>
          <p:cNvPr id="13" name="">
            <a:extLst>
              <a:ext uri="{FF2B5EF4-FFF2-40B4-BE49-F238E27FC236}">
                <ns2:creationId id="{7D67B5CD-9D53-443C-AD8E-BA918DBC1D8D}"/>
              </a:ext>
            </a:extLst>
          </p:cNvPr>
          <p:cNvSpPr>
            <a:spLocks noGrp="1"/>
          </p:cNvSpPr>
          <p:nvPr/>
        </p:nvSpPr>
        <p:spPr>
          <a:xfrm>
            <a:off x="1085850" y="2724150"/>
            <a:ext cx="400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020618"/>
                </a:solidFill>
              </a:defRPr>
            </a:pPr>
            <a:r>
              <a:rPr sz="1200" b="1">
                <a:solidFill>
                  <a:srgbClr val="020618"/>
                </a:solidFill>
              </a:rPr>
              <a:t>1</a:t>
            </a:r>
          </a:p>
        </p:txBody>
      </p:sp>
      <p:sp>
        <p:nvSpPr>
          <p:cNvPr id="14" name="">
            <a:extLst>
              <a:ext uri="{FF2B5EF4-FFF2-40B4-BE49-F238E27FC236}">
                <ns2:creationId id="{607F7221-623E-42B1-ABA9-8CB314E391CD}"/>
              </a:ext>
            </a:extLst>
          </p:cNvPr>
          <p:cNvSpPr>
            <a:spLocks noGrp="1"/>
          </p:cNvSpPr>
          <p:nvPr/>
        </p:nvSpPr>
        <p:spPr>
          <a:xfrm>
            <a:off x="1619250" y="2686050"/>
            <a:ext cx="1238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Checkpoint</a:t>
            </a:r>
          </a:p>
        </p:txBody>
      </p:sp>
      <p:sp>
        <p:nvSpPr>
          <p:cNvPr id="15" name="">
            <a:extLst>
              <a:ext uri="{FF2B5EF4-FFF2-40B4-BE49-F238E27FC236}">
                <ns2:creationId id="{70D3F9F3-BC8C-4A5E-BD3D-FCD5ACE8A19D}"/>
              </a:ext>
            </a:extLst>
          </p:cNvPr>
          <p:cNvSpPr>
            <a:spLocks noGrp="1"/>
          </p:cNvSpPr>
          <p:nvPr/>
        </p:nvSpPr>
        <p:spPr>
          <a:xfrm>
            <a:off x="1162050" y="3257550"/>
            <a:ext cx="17526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>
                <a:solidFill>
                  <a:srgbClr val="E2E8F0"/>
                </a:solidFill>
              </a:defRPr>
            </a:pPr>
            <a:r>
              <a:rPr sz="1200" b="0">
                <a:solidFill>
                  <a:srgbClr val="E2E8F0"/>
                </a:solidFill>
              </a:rPr>
              <a:t>load medsam_vit_b.pth when present</a:t>
            </a:r>
          </a:p>
        </p:txBody>
      </p:sp>
      <p:sp>
        <p:nvSpPr>
          <p:cNvPr id="16" name="">
            <a:extLst>
              <a:ext uri="{FF2B5EF4-FFF2-40B4-BE49-F238E27FC236}">
                <ns2:creationId id="{C0CEF5C9-CE8C-433F-9835-8A555C94D586}"/>
              </a:ext>
            </a:extLst>
          </p:cNvPr>
          <p:cNvSpPr>
            <a:spLocks noGrp="1"/>
          </p:cNvSpPr>
          <p:nvPr/>
        </p:nvSpPr>
        <p:spPr>
          <a:xfrm>
            <a:off x="3600450" y="2381250"/>
            <a:ext cx="2324100" cy="1809750"/>
          </a:xfrm>
          <a:prstGeom prst="roundRect">
            <a:avLst>
              <a:gd name="adj" fmla="val 6316"/>
            </a:avLst>
          </a:prstGeom>
          <a:solidFill>
            <a:srgbClr val="0F172B"/>
          </a:solidFill>
          <a:ln w="9525">
            <a:solidFill>
              <a:srgbClr val="314158"/>
            </a:solidFill>
            <a:prstDash val="solid"/>
          </a:ln>
        </p:spPr>
      </p:sp>
      <p:sp>
        <p:nvSpPr>
          <p:cNvPr id="17" name="">
            <a:extLst>
              <a:ext uri="{FF2B5EF4-FFF2-40B4-BE49-F238E27FC236}">
                <ns2:creationId id="{EA8C1BA8-0475-47DC-8B77-035123870619}"/>
              </a:ext>
            </a:extLst>
          </p:cNvPr>
          <p:cNvSpPr>
            <a:spLocks noGrp="1"/>
          </p:cNvSpPr>
          <p:nvPr/>
        </p:nvSpPr>
        <p:spPr>
          <a:xfrm>
            <a:off x="3810000" y="2628900"/>
            <a:ext cx="400050" cy="400050"/>
          </a:xfrm>
          <a:prstGeom prst="ellipse">
            <a:avLst/>
          </a:prstGeom>
          <a:solidFill>
            <a:srgbClr val="00D492"/>
          </a:solidFill>
          <a:ln w="9525">
            <a:solidFill>
              <a:srgbClr val="00D492"/>
            </a:solidFill>
            <a:prstDash val="solid"/>
          </a:ln>
        </p:spPr>
      </p:sp>
      <p:sp>
        <p:nvSpPr>
          <p:cNvPr id="18" name="">
            <a:extLst>
              <a:ext uri="{FF2B5EF4-FFF2-40B4-BE49-F238E27FC236}">
                <ns2:creationId id="{8A20C8B5-68C2-4CF1-B02D-C672ADF4C58D}"/>
              </a:ext>
            </a:extLst>
          </p:cNvPr>
          <p:cNvSpPr>
            <a:spLocks noGrp="1"/>
          </p:cNvSpPr>
          <p:nvPr/>
        </p:nvSpPr>
        <p:spPr>
          <a:xfrm>
            <a:off x="3810000" y="2724150"/>
            <a:ext cx="400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020618"/>
                </a:solidFill>
              </a:defRPr>
            </a:pPr>
            <a:r>
              <a:rPr sz="1200" b="1">
                <a:solidFill>
                  <a:srgbClr val="020618"/>
                </a:solidFill>
              </a:rPr>
              <a:t>2</a:t>
            </a:r>
          </a:p>
        </p:txBody>
      </p:sp>
      <p:sp>
        <p:nvSpPr>
          <p:cNvPr id="19" name="">
            <a:extLst>
              <a:ext uri="{FF2B5EF4-FFF2-40B4-BE49-F238E27FC236}">
                <ns2:creationId id="{AA528C41-A287-46CE-B5C8-73F82A8D0D68}"/>
              </a:ext>
            </a:extLst>
          </p:cNvPr>
          <p:cNvSpPr>
            <a:spLocks noGrp="1"/>
          </p:cNvSpPr>
          <p:nvPr/>
        </p:nvSpPr>
        <p:spPr>
          <a:xfrm>
            <a:off x="4343400" y="2686050"/>
            <a:ext cx="1238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Prompt</a:t>
            </a:r>
          </a:p>
        </p:txBody>
      </p:sp>
      <p:sp>
        <p:nvSpPr>
          <p:cNvPr id="20" name="">
            <a:extLst>
              <a:ext uri="{FF2B5EF4-FFF2-40B4-BE49-F238E27FC236}">
                <ns2:creationId id="{AF99C537-D91C-4089-A23F-4DC5D393FF3E}"/>
              </a:ext>
            </a:extLst>
          </p:cNvPr>
          <p:cNvSpPr>
            <a:spLocks noGrp="1"/>
          </p:cNvSpPr>
          <p:nvPr/>
        </p:nvSpPr>
        <p:spPr>
          <a:xfrm>
            <a:off x="3886200" y="3257550"/>
            <a:ext cx="17526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>
                <a:solidFill>
                  <a:srgbClr val="E2E8F0"/>
                </a:solidFill>
              </a:defRPr>
            </a:pPr>
            <a:r>
              <a:rPr sz="1200" b="0">
                <a:solidFill>
                  <a:srgbClr val="E2E8F0"/>
                </a:solidFill>
              </a:rPr>
              <a:t>build a box prompt from mask or image</a:t>
            </a:r>
          </a:p>
        </p:txBody>
      </p:sp>
      <p:sp>
        <p:nvSpPr>
          <p:cNvPr id="21" name="">
            <a:extLst>
              <a:ext uri="{FF2B5EF4-FFF2-40B4-BE49-F238E27FC236}">
                <ns2:creationId id="{DBD2B39B-BB56-4563-80BA-C15AAC8339E4}"/>
              </a:ext>
            </a:extLst>
          </p:cNvPr>
          <p:cNvSpPr>
            <a:spLocks noGrp="1"/>
          </p:cNvSpPr>
          <p:nvPr/>
        </p:nvSpPr>
        <p:spPr>
          <a:xfrm>
            <a:off x="6324600" y="2381250"/>
            <a:ext cx="2324100" cy="1809750"/>
          </a:xfrm>
          <a:prstGeom prst="roundRect">
            <a:avLst>
              <a:gd name="adj" fmla="val 6316"/>
            </a:avLst>
          </a:prstGeom>
          <a:solidFill>
            <a:srgbClr val="0F172B"/>
          </a:solidFill>
          <a:ln w="9525">
            <a:solidFill>
              <a:srgbClr val="314158"/>
            </a:solidFill>
            <a:prstDash val="solid"/>
          </a:ln>
        </p:spPr>
      </p:sp>
      <p:sp>
        <p:nvSpPr>
          <p:cNvPr id="22" name="">
            <a:extLst>
              <a:ext uri="{FF2B5EF4-FFF2-40B4-BE49-F238E27FC236}">
                <ns2:creationId id="{85F08806-5F4F-44D8-9E98-B496A840923A}"/>
              </a:ext>
            </a:extLst>
          </p:cNvPr>
          <p:cNvSpPr>
            <a:spLocks noGrp="1"/>
          </p:cNvSpPr>
          <p:nvPr/>
        </p:nvSpPr>
        <p:spPr>
          <a:xfrm>
            <a:off x="6534150" y="2628900"/>
            <a:ext cx="400050" cy="400050"/>
          </a:xfrm>
          <a:prstGeom prst="ellipse">
            <a:avLst/>
          </a:prstGeom>
          <a:solidFill>
            <a:srgbClr val="A684FF"/>
          </a:solidFill>
          <a:ln w="9525">
            <a:solidFill>
              <a:srgbClr val="A684FF"/>
            </a:solidFill>
            <a:prstDash val="solid"/>
          </a:ln>
        </p:spPr>
      </p:sp>
      <p:sp>
        <p:nvSpPr>
          <p:cNvPr id="23" name="">
            <a:extLst>
              <a:ext uri="{FF2B5EF4-FFF2-40B4-BE49-F238E27FC236}">
                <ns2:creationId id="{CD973970-4B11-4625-9311-69843F76035F}"/>
              </a:ext>
            </a:extLst>
          </p:cNvPr>
          <p:cNvSpPr>
            <a:spLocks noGrp="1"/>
          </p:cNvSpPr>
          <p:nvPr/>
        </p:nvSpPr>
        <p:spPr>
          <a:xfrm>
            <a:off x="6534150" y="2724150"/>
            <a:ext cx="400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020618"/>
                </a:solidFill>
              </a:defRPr>
            </a:pPr>
            <a:r>
              <a:rPr sz="1200" b="1">
                <a:solidFill>
                  <a:srgbClr val="020618"/>
                </a:solidFill>
              </a:rPr>
              <a:t>3</a:t>
            </a:r>
          </a:p>
        </p:txBody>
      </p:sp>
      <p:sp>
        <p:nvSpPr>
          <p:cNvPr id="24" name="">
            <a:extLst>
              <a:ext uri="{FF2B5EF4-FFF2-40B4-BE49-F238E27FC236}">
                <ns2:creationId id="{02285FE2-1D17-4DCE-8228-F1310EB9CBAD}"/>
              </a:ext>
            </a:extLst>
          </p:cNvPr>
          <p:cNvSpPr>
            <a:spLocks noGrp="1"/>
          </p:cNvSpPr>
          <p:nvPr/>
        </p:nvSpPr>
        <p:spPr>
          <a:xfrm>
            <a:off x="7067550" y="2686050"/>
            <a:ext cx="1238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Infer</a:t>
            </a:r>
          </a:p>
        </p:txBody>
      </p:sp>
      <p:sp>
        <p:nvSpPr>
          <p:cNvPr id="25" name="">
            <a:extLst>
              <a:ext uri="{FF2B5EF4-FFF2-40B4-BE49-F238E27FC236}">
                <ns2:creationId id="{1F3F9A3C-CC10-4E6A-A3ED-D5588C2024BA}"/>
              </a:ext>
            </a:extLst>
          </p:cNvPr>
          <p:cNvSpPr>
            <a:spLocks noGrp="1"/>
          </p:cNvSpPr>
          <p:nvPr/>
        </p:nvSpPr>
        <p:spPr>
          <a:xfrm>
            <a:off x="6610350" y="3257550"/>
            <a:ext cx="17526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>
                <a:solidFill>
                  <a:srgbClr val="E2E8F0"/>
                </a:solidFill>
              </a:defRPr>
            </a:pPr>
            <a:r>
              <a:rPr sz="1200" b="0">
                <a:solidFill>
                  <a:srgbClr val="E2E8F0"/>
                </a:solidFill>
              </a:rPr>
              <a:t>run CPU-safe single-slice prediction</a:t>
            </a:r>
          </a:p>
        </p:txBody>
      </p:sp>
      <p:sp>
        <p:nvSpPr>
          <p:cNvPr id="26" name="">
            <a:extLst>
              <a:ext uri="{FF2B5EF4-FFF2-40B4-BE49-F238E27FC236}">
                <ns2:creationId id="{5353B9CE-EE99-4EED-87ED-E160FB042527}"/>
              </a:ext>
            </a:extLst>
          </p:cNvPr>
          <p:cNvSpPr>
            <a:spLocks noGrp="1"/>
          </p:cNvSpPr>
          <p:nvPr/>
        </p:nvSpPr>
        <p:spPr>
          <a:xfrm>
            <a:off x="9048750" y="2381250"/>
            <a:ext cx="2324100" cy="1809750"/>
          </a:xfrm>
          <a:prstGeom prst="roundRect">
            <a:avLst>
              <a:gd name="adj" fmla="val 6316"/>
            </a:avLst>
          </a:prstGeom>
          <a:solidFill>
            <a:srgbClr val="0F172B"/>
          </a:solidFill>
          <a:ln w="9525">
            <a:solidFill>
              <a:srgbClr val="314158"/>
            </a:solidFill>
            <a:prstDash val="solid"/>
          </a:ln>
        </p:spPr>
      </p:sp>
      <p:sp>
        <p:nvSpPr>
          <p:cNvPr id="27" name="">
            <a:extLst>
              <a:ext uri="{FF2B5EF4-FFF2-40B4-BE49-F238E27FC236}">
                <ns2:creationId id="{E30A6AB8-CC90-4EA9-9FF3-076F93D26B5D}"/>
              </a:ext>
            </a:extLst>
          </p:cNvPr>
          <p:cNvSpPr>
            <a:spLocks noGrp="1"/>
          </p:cNvSpPr>
          <p:nvPr/>
        </p:nvSpPr>
        <p:spPr>
          <a:xfrm>
            <a:off x="9258300" y="2628900"/>
            <a:ext cx="400050" cy="400050"/>
          </a:xfrm>
          <a:prstGeom prst="ellipse">
            <a:avLst/>
          </a:prstGeom>
          <a:solidFill>
            <a:srgbClr val="FFD230"/>
          </a:solidFill>
          <a:ln w="9525">
            <a:solidFill>
              <a:srgbClr val="FFD230"/>
            </a:solidFill>
            <a:prstDash val="solid"/>
          </a:ln>
        </p:spPr>
      </p:sp>
      <p:sp>
        <p:nvSpPr>
          <p:cNvPr id="28" name="">
            <a:extLst>
              <a:ext uri="{FF2B5EF4-FFF2-40B4-BE49-F238E27FC236}">
                <ns2:creationId id="{75ADB349-4729-4F3A-BF50-6824A9BDAF23}"/>
              </a:ext>
            </a:extLst>
          </p:cNvPr>
          <p:cNvSpPr>
            <a:spLocks noGrp="1"/>
          </p:cNvSpPr>
          <p:nvPr/>
        </p:nvSpPr>
        <p:spPr>
          <a:xfrm>
            <a:off x="9258300" y="2724150"/>
            <a:ext cx="400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020618"/>
                </a:solidFill>
              </a:defRPr>
            </a:pPr>
            <a:r>
              <a:rPr sz="1200" b="1">
                <a:solidFill>
                  <a:srgbClr val="020618"/>
                </a:solidFill>
              </a:rPr>
              <a:t>4</a:t>
            </a:r>
          </a:p>
        </p:txBody>
      </p:sp>
      <p:sp>
        <p:nvSpPr>
          <p:cNvPr id="29" name="">
            <a:extLst>
              <a:ext uri="{FF2B5EF4-FFF2-40B4-BE49-F238E27FC236}">
                <ns2:creationId id="{CBD7C3DE-B6DA-4916-AC13-2DFE58D644DC}"/>
              </a:ext>
            </a:extLst>
          </p:cNvPr>
          <p:cNvSpPr>
            <a:spLocks noGrp="1"/>
          </p:cNvSpPr>
          <p:nvPr/>
        </p:nvSpPr>
        <p:spPr>
          <a:xfrm>
            <a:off x="9791700" y="2686050"/>
            <a:ext cx="1238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Inspect</a:t>
            </a:r>
          </a:p>
        </p:txBody>
      </p:sp>
      <p:sp>
        <p:nvSpPr>
          <p:cNvPr id="30" name="">
            <a:extLst>
              <a:ext uri="{FF2B5EF4-FFF2-40B4-BE49-F238E27FC236}">
                <ns2:creationId id="{8097077A-E0D2-4C82-8CC1-5B8844AAF129}"/>
              </a:ext>
            </a:extLst>
          </p:cNvPr>
          <p:cNvSpPr>
            <a:spLocks noGrp="1"/>
          </p:cNvSpPr>
          <p:nvPr/>
        </p:nvSpPr>
        <p:spPr>
          <a:xfrm>
            <a:off x="9334500" y="3257550"/>
            <a:ext cx="17526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>
                <a:solidFill>
                  <a:srgbClr val="E2E8F0"/>
                </a:solidFill>
              </a:defRPr>
            </a:pPr>
            <a:r>
              <a:rPr sz="1200" b="0">
                <a:solidFill>
                  <a:srgbClr val="E2E8F0"/>
                </a:solidFill>
              </a:rPr>
              <a:t>render prediction with overlays and metrics</a:t>
            </a:r>
          </a:p>
        </p:txBody>
      </p:sp>
      <p:sp>
        <p:nvSpPr>
          <p:cNvPr id="31" name="">
            <a:extLst>
              <a:ext uri="{FF2B5EF4-FFF2-40B4-BE49-F238E27FC236}">
                <ns2:creationId id="{7CD1CDE4-09D4-4D3B-82A1-7FE0D4E995BC}"/>
              </a:ext>
            </a:extLst>
          </p:cNvPr>
          <p:cNvSpPr>
            <a:spLocks noGrp="1"/>
          </p:cNvSpPr>
          <p:nvPr/>
        </p:nvSpPr>
        <p:spPr>
          <a:xfrm>
            <a:off x="1809750" y="4876800"/>
            <a:ext cx="8572500" cy="628650"/>
          </a:xfrm>
          <a:prstGeom prst="roundRect">
            <a:avLst>
              <a:gd name="adj" fmla="val 18182"/>
            </a:avLst>
          </a:prstGeom>
          <a:solidFill>
            <a:srgbClr val="0F172B"/>
          </a:solidFill>
          <a:ln w="9525">
            <a:solidFill>
              <a:srgbClr val="314158"/>
            </a:solidFill>
            <a:prstDash val="solid"/>
          </a:ln>
        </p:spPr>
      </p:sp>
      <p:sp>
        <p:nvSpPr>
          <p:cNvPr id="32" name="">
            <a:extLst>
              <a:ext uri="{FF2B5EF4-FFF2-40B4-BE49-F238E27FC236}">
                <ns2:creationId id="{6F8E80FE-37A5-45BE-9FAD-BBBF3B6D447B}"/>
              </a:ext>
            </a:extLst>
          </p:cNvPr>
          <p:cNvSpPr>
            <a:spLocks noGrp="1"/>
          </p:cNvSpPr>
          <p:nvPr/>
        </p:nvSpPr>
        <p:spPr>
          <a:xfrm>
            <a:off x="2114550" y="5095875"/>
            <a:ext cx="79629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00D3F2"/>
                </a:solidFill>
              </a:defRPr>
            </a:pPr>
            <a:r>
              <a:rPr sz="1350" b="1">
                <a:solidFill>
                  <a:srgbClr val="00D3F2"/>
                </a:solidFill>
              </a:rPr>
              <a:t>The model prediction is inspected against ground truth with the same overlay and Dice/IoU workflow.</a:t>
            </a:r>
          </a:p>
        </p:txBody>
      </p:sp>
      <p:sp>
        <p:nvSpPr>
          <p:cNvPr id="33" name="">
            <a:extLst>
              <a:ext uri="{FF2B5EF4-FFF2-40B4-BE49-F238E27FC236}">
                <ns2:creationId id="{3D3A0A5D-DFCA-4FE8-9623-7508398B48BB}"/>
              </a:ext>
            </a:extLst>
          </p:cNvPr>
          <p:cNvSpPr>
            <a:spLocks noGrp="1"/>
          </p:cNvSpPr>
          <p:nvPr/>
        </p:nvSpPr>
        <p:spPr>
          <a:xfrm>
            <a:off x="685800" y="6515100"/>
            <a:ext cx="3238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1">
                <a:solidFill>
                  <a:srgbClr val="62748E"/>
                </a:solidFill>
              </a:defRPr>
            </a:pPr>
            <a:r>
              <a:rPr sz="750" b="1">
                <a:solidFill>
                  <a:srgbClr val="62748E"/>
                </a:solidFill>
              </a:rPr>
              <a:t>3D Medical Image Intelligent Agent</a:t>
            </a:r>
          </a:p>
        </p:txBody>
      </p:sp>
      <p:sp>
        <p:nvSpPr>
          <p:cNvPr id="34" name="">
            <a:extLst>
              <a:ext uri="{FF2B5EF4-FFF2-40B4-BE49-F238E27FC236}">
                <ns2:creationId id="{BEAA2ACE-7D9F-416A-84AE-ECC7DA5D1EC8}"/>
              </a:ext>
            </a:extLst>
          </p:cNvPr>
          <p:cNvSpPr>
            <a:spLocks noGrp="1"/>
          </p:cNvSpPr>
          <p:nvPr/>
        </p:nvSpPr>
        <p:spPr>
          <a:xfrm>
            <a:off x="8096250" y="6515100"/>
            <a:ext cx="34099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750" b="1">
                <a:solidFill>
                  <a:srgbClr val="62748E"/>
                </a:solidFill>
              </a:defRPr>
            </a:pPr>
            <a:r>
              <a:rPr sz="750" b="1">
                <a:solidFill>
                  <a:srgbClr val="62748E"/>
                </a:solidFill>
              </a:rPr>
              <a:t>Local RAG | NIfTI | Segmentation | MedSAM</a:t>
            </a:r>
          </a:p>
        </p:txBody>
      </p:sp>
    </p:spTree>
    <p:extLst>
      <p:ext uri="{BB962C8B-B14F-4D97-AF65-F5344CB8AC3E}">
        <ns3:creationId val="2059062672"/>
      </p:ext>
    </p:extLst>
  </p:cSld>
</p:sld>
</file>

<file path=ppt/slides/slide8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020618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" name="">
            <a:extLst>
              <a:ext uri="{FF2B5EF4-FFF2-40B4-BE49-F238E27FC236}">
                <ns2:creationId id="{5B90A2E9-38C6-4C79-B4C2-13B01BD0620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20618"/>
          </a:solidFill>
          <a:ln w="9525">
            <a:solidFill>
              <a:srgbClr val="020618"/>
            </a:solidFill>
            <a:prstDash val="solid"/>
          </a:ln>
        </p:spPr>
      </p:sp>
      <p:sp>
        <p:nvSpPr>
          <p:cNvPr id="2" name="">
            <a:extLst>
              <a:ext uri="{FF2B5EF4-FFF2-40B4-BE49-F238E27FC236}">
                <ns2:creationId id="{C433C90D-11B9-492B-901B-7440B9858C1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47625"/>
          </a:xfrm>
          <a:prstGeom prst="rect">
            <a:avLst/>
          </a:prstGeom>
          <a:solidFill>
            <a:srgbClr val="00D3F2"/>
          </a:solidFill>
          <a:ln w="9525">
            <a:solidFill>
              <a:srgbClr val="00D3F2"/>
            </a:solidFill>
            <a:prstDash val="solid"/>
          </a:ln>
        </p:spPr>
      </p:sp>
      <p:sp>
        <p:nvSpPr>
          <p:cNvPr id="3" name="">
            <a:extLst>
              <a:ext uri="{FF2B5EF4-FFF2-40B4-BE49-F238E27FC236}">
                <ns2:creationId id="{D9CA35B8-D6F3-4A79-9A1D-D200911BDA44}"/>
              </a:ext>
            </a:extLst>
          </p:cNvPr>
          <p:cNvSpPr>
            <a:spLocks noGrp="1"/>
          </p:cNvSpPr>
          <p:nvPr/>
        </p:nvSpPr>
        <p:spPr>
          <a:xfrm>
            <a:off x="0" y="6810375"/>
            <a:ext cx="12192000" cy="47625"/>
          </a:xfrm>
          <a:prstGeom prst="rect">
            <a:avLst/>
          </a:prstGeom>
          <a:solidFill>
            <a:srgbClr val="1D293D"/>
          </a:solidFill>
          <a:ln w="9525">
            <a:solidFill>
              <a:srgbClr val="1D293D"/>
            </a:solidFill>
            <a:prstDash val="solid"/>
          </a:ln>
        </p:spPr>
      </p:sp>
      <p:sp>
        <p:nvSpPr>
          <p:cNvPr id="4" name="">
            <a:extLst>
              <a:ext uri="{FF2B5EF4-FFF2-40B4-BE49-F238E27FC236}">
                <ns2:creationId id="{DB5ABDD9-47B7-4892-9F8A-6898D5591F81}"/>
              </a:ext>
            </a:extLst>
          </p:cNvPr>
          <p:cNvSpPr>
            <a:spLocks noGrp="1"/>
          </p:cNvSpPr>
          <p:nvPr/>
        </p:nvSpPr>
        <p:spPr>
          <a:xfrm>
            <a:off x="8858250" y="-1619250"/>
            <a:ext cx="4095750" cy="4095750"/>
          </a:xfrm>
          <a:prstGeom prst="ellipse">
            <a:avLst/>
          </a:prstGeom>
          <a:solidFill>
            <a:srgbClr val="0F172B"/>
          </a:solidFill>
          <a:ln w="9525">
            <a:solidFill>
              <a:srgbClr val="0F172B"/>
            </a:solidFill>
            <a:prstDash val="solid"/>
          </a:ln>
        </p:spPr>
      </p:sp>
      <p:sp>
        <p:nvSpPr>
          <p:cNvPr id="5" name="">
            <a:extLst>
              <a:ext uri="{FF2B5EF4-FFF2-40B4-BE49-F238E27FC236}">
                <ns2:creationId id="{D0B28AF9-14C2-4B9C-86B8-739CE2CC444F}"/>
              </a:ext>
            </a:extLst>
          </p:cNvPr>
          <p:cNvSpPr>
            <a:spLocks noGrp="1"/>
          </p:cNvSpPr>
          <p:nvPr/>
        </p:nvSpPr>
        <p:spPr>
          <a:xfrm>
            <a:off x="-2000250" y="4476750"/>
            <a:ext cx="3429000" cy="3429000"/>
          </a:xfrm>
          <a:prstGeom prst="ellipse">
            <a:avLst/>
          </a:prstGeom>
          <a:solidFill>
            <a:srgbClr val="0F172B"/>
          </a:solidFill>
          <a:ln w="9525">
            <a:solidFill>
              <a:srgbClr val="0F172B"/>
            </a:solidFill>
            <a:prstDash val="solid"/>
          </a:ln>
        </p:spPr>
      </p:sp>
      <p:sp>
        <p:nvSpPr>
          <p:cNvPr id="6" name="">
            <a:extLst>
              <a:ext uri="{FF2B5EF4-FFF2-40B4-BE49-F238E27FC236}">
                <ns2:creationId id="{453731E9-30DA-4186-97D0-932D791F236B}"/>
              </a:ext>
            </a:extLst>
          </p:cNvPr>
          <p:cNvSpPr>
            <a:spLocks noGrp="1"/>
          </p:cNvSpPr>
          <p:nvPr/>
        </p:nvSpPr>
        <p:spPr>
          <a:xfrm>
            <a:off x="685800" y="323850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00D3F2"/>
                </a:solidFill>
              </a:defRPr>
            </a:pPr>
            <a:r>
              <a:rPr sz="900" b="1">
                <a:solidFill>
                  <a:srgbClr val="00D3F2"/>
                </a:solidFill>
              </a:rPr>
              <a:t>MEDSAM ADAPTER</a:t>
            </a:r>
          </a:p>
        </p:txBody>
      </p:sp>
      <p:sp>
        <p:nvSpPr>
          <p:cNvPr id="7" name="">
            <a:extLst>
              <a:ext uri="{FF2B5EF4-FFF2-40B4-BE49-F238E27FC236}">
                <ns2:creationId id="{C7360166-8424-4761-9E2E-AB55F70B9C16}"/>
              </a:ext>
            </a:extLst>
          </p:cNvPr>
          <p:cNvSpPr>
            <a:spLocks noGrp="1"/>
          </p:cNvSpPr>
          <p:nvPr/>
        </p:nvSpPr>
        <p:spPr>
          <a:xfrm>
            <a:off x="11068050" y="32385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90A1B9"/>
                </a:solidFill>
              </a:defRPr>
            </a:pPr>
            <a:r>
              <a:rPr sz="900" b="1">
                <a:solidFill>
                  <a:srgbClr val="90A1B9"/>
                </a:solidFill>
              </a:rPr>
              <a:t>08</a:t>
            </a:r>
          </a:p>
        </p:txBody>
      </p:sp>
      <p:sp>
        <p:nvSpPr>
          <p:cNvPr id="8" name="">
            <a:extLst>
              <a:ext uri="{FF2B5EF4-FFF2-40B4-BE49-F238E27FC236}">
                <ns2:creationId id="{5C8462FB-0007-4D8D-972F-A72681A28BA8}"/>
              </a:ext>
            </a:extLst>
          </p:cNvPr>
          <p:cNvSpPr>
            <a:spLocks noGrp="1"/>
          </p:cNvSpPr>
          <p:nvPr/>
        </p:nvSpPr>
        <p:spPr>
          <a:xfrm>
            <a:off x="685800" y="685800"/>
            <a:ext cx="8953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Official model weights behind a clean boundary</a:t>
            </a:r>
          </a:p>
        </p:txBody>
      </p:sp>
      <p:sp>
        <p:nvSpPr>
          <p:cNvPr id="9" name="">
            <a:extLst>
              <a:ext uri="{FF2B5EF4-FFF2-40B4-BE49-F238E27FC236}">
                <ns2:creationId id="{D24F231A-05CF-4244-8118-3D34783AC666}"/>
              </a:ext>
            </a:extLst>
          </p:cNvPr>
          <p:cNvSpPr>
            <a:spLocks noGrp="1"/>
          </p:cNvSpPr>
          <p:nvPr/>
        </p:nvSpPr>
        <p:spPr>
          <a:xfrm>
            <a:off x="685800" y="1257300"/>
            <a:ext cx="857250" cy="38100"/>
          </a:xfrm>
          <a:prstGeom prst="rect">
            <a:avLst/>
          </a:prstGeom>
          <a:solidFill>
            <a:srgbClr val="00D3F2"/>
          </a:solidFill>
          <a:ln w="9525">
            <a:solidFill>
              <a:srgbClr val="00D3F2"/>
            </a:solidFill>
            <a:prstDash val="solid"/>
          </a:ln>
        </p:spPr>
      </p:sp>
      <p:sp>
        <p:nvSpPr>
          <p:cNvPr id="10" name="">
            <a:extLst>
              <a:ext uri="{FF2B5EF4-FFF2-40B4-BE49-F238E27FC236}">
                <ns2:creationId id="{2DB5FA15-21EA-42F6-86E0-5573170AFB9D}"/>
              </a:ext>
            </a:extLst>
          </p:cNvPr>
          <p:cNvSpPr>
            <a:spLocks noGrp="1"/>
          </p:cNvSpPr>
          <p:nvPr/>
        </p:nvSpPr>
        <p:spPr>
          <a:xfrm>
            <a:off x="685800" y="1466850"/>
            <a:ext cx="9906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E2E8F0"/>
                </a:solidFill>
              </a:defRPr>
            </a:pPr>
            <a:r>
              <a:rPr sz="1575" b="0">
                <a:solidFill>
                  <a:srgbClr val="E2E8F0"/>
                </a:solidFill>
              </a:rPr>
              <a:t>The model layer is isolated in model_adapters, so MedSAM can be used without entangling the UI or visualization code.</a:t>
            </a:r>
          </a:p>
        </p:txBody>
      </p:sp>
      <p:sp>
        <p:nvSpPr>
          <p:cNvPr id="11" name="">
            <a:extLst>
              <a:ext uri="{FF2B5EF4-FFF2-40B4-BE49-F238E27FC236}">
                <ns2:creationId id="{76B0236D-30DD-4ED8-9EE7-C3F6B755BF16}"/>
              </a:ext>
            </a:extLst>
          </p:cNvPr>
          <p:cNvSpPr>
            <a:spLocks noGrp="1"/>
          </p:cNvSpPr>
          <p:nvPr/>
        </p:nvSpPr>
        <p:spPr>
          <a:xfrm>
            <a:off x="895350" y="2381250"/>
            <a:ext cx="2266950" cy="1809750"/>
          </a:xfrm>
          <a:prstGeom prst="roundRect">
            <a:avLst>
              <a:gd name="adj" fmla="val 6316"/>
            </a:avLst>
          </a:prstGeom>
          <a:solidFill>
            <a:srgbClr val="0F172B"/>
          </a:solidFill>
          <a:ln w="9525">
            <a:solidFill>
              <a:srgbClr val="314158"/>
            </a:solidFill>
            <a:prstDash val="solid"/>
          </a:ln>
        </p:spPr>
      </p:sp>
      <p:sp>
        <p:nvSpPr>
          <p:cNvPr id="12" name="">
            <a:extLst>
              <a:ext uri="{FF2B5EF4-FFF2-40B4-BE49-F238E27FC236}">
                <ns2:creationId id="{18BD8E73-C645-4FA8-96E2-E53B1A1C15DF}"/>
              </a:ext>
            </a:extLst>
          </p:cNvPr>
          <p:cNvSpPr>
            <a:spLocks noGrp="1"/>
          </p:cNvSpPr>
          <p:nvPr/>
        </p:nvSpPr>
        <p:spPr>
          <a:xfrm>
            <a:off x="1104900" y="2628900"/>
            <a:ext cx="419100" cy="38100"/>
          </a:xfrm>
          <a:prstGeom prst="rect">
            <a:avLst/>
          </a:prstGeom>
          <a:solidFill>
            <a:srgbClr val="FFD230"/>
          </a:solidFill>
          <a:ln w="9525">
            <a:solidFill>
              <a:srgbClr val="FFD230"/>
            </a:solidFill>
            <a:prstDash val="solid"/>
          </a:ln>
        </p:spPr>
      </p:sp>
      <p:sp>
        <p:nvSpPr>
          <p:cNvPr id="13" name="">
            <a:extLst>
              <a:ext uri="{FF2B5EF4-FFF2-40B4-BE49-F238E27FC236}">
                <ns2:creationId id="{7874DA1A-837D-42B9-8FE4-280D8D53AFAE}"/>
              </a:ext>
            </a:extLst>
          </p:cNvPr>
          <p:cNvSpPr>
            <a:spLocks noGrp="1"/>
          </p:cNvSpPr>
          <p:nvPr/>
        </p:nvSpPr>
        <p:spPr>
          <a:xfrm>
            <a:off x="1104900" y="2895600"/>
            <a:ext cx="1714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Checkpoint</a:t>
            </a:r>
          </a:p>
        </p:txBody>
      </p:sp>
      <p:sp>
        <p:nvSpPr>
          <p:cNvPr id="14" name="">
            <a:extLst>
              <a:ext uri="{FF2B5EF4-FFF2-40B4-BE49-F238E27FC236}">
                <ns2:creationId id="{43FF8D0A-7760-4C81-95D2-213D9DF5C553}"/>
              </a:ext>
            </a:extLst>
          </p:cNvPr>
          <p:cNvSpPr>
            <a:spLocks noGrp="1"/>
          </p:cNvSpPr>
          <p:nvPr/>
        </p:nvSpPr>
        <p:spPr>
          <a:xfrm>
            <a:off x="1104900" y="3429000"/>
            <a:ext cx="17907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E2E8F0"/>
                </a:solidFill>
              </a:defRPr>
            </a:pPr>
            <a:r>
              <a:rPr sz="1200" b="0">
                <a:solidFill>
                  <a:srgbClr val="E2E8F0"/>
                </a:solidFill>
              </a:rPr>
              <a:t>medsam_vit_b.pth</a:t>
            </a:r>
          </a:p>
          <a:p>
            <a:pPr algn="l">
              <a:defRPr sz="1200" b="0">
                <a:solidFill>
                  <a:srgbClr val="E2E8F0"/>
                </a:solidFill>
              </a:defRPr>
            </a:pPr>
            <a:r>
              <a:rPr sz="1200" b="0">
                <a:solidFill>
                  <a:srgbClr val="E2E8F0"/>
                </a:solidFill>
              </a:rPr>
              <a:t>loaded when present</a:t>
            </a:r>
          </a:p>
        </p:txBody>
      </p:sp>
      <p:sp>
        <p:nvSpPr>
          <p:cNvPr id="15" name="">
            <a:extLst>
              <a:ext uri="{FF2B5EF4-FFF2-40B4-BE49-F238E27FC236}">
                <ns2:creationId id="{F5988DDB-DF64-4BAE-8FA2-2ADE3CDC5EBA}"/>
              </a:ext>
            </a:extLst>
          </p:cNvPr>
          <p:cNvSpPr>
            <a:spLocks noGrp="1"/>
          </p:cNvSpPr>
          <p:nvPr/>
        </p:nvSpPr>
        <p:spPr>
          <a:xfrm>
            <a:off x="3543300" y="2381250"/>
            <a:ext cx="2266950" cy="1809750"/>
          </a:xfrm>
          <a:prstGeom prst="roundRect">
            <a:avLst>
              <a:gd name="adj" fmla="val 6316"/>
            </a:avLst>
          </a:prstGeom>
          <a:solidFill>
            <a:srgbClr val="0F172B"/>
          </a:solidFill>
          <a:ln w="9525">
            <a:solidFill>
              <a:srgbClr val="314158"/>
            </a:solidFill>
            <a:prstDash val="solid"/>
          </a:ln>
        </p:spPr>
      </p:sp>
      <p:sp>
        <p:nvSpPr>
          <p:cNvPr id="16" name="">
            <a:extLst>
              <a:ext uri="{FF2B5EF4-FFF2-40B4-BE49-F238E27FC236}">
                <ns2:creationId id="{9BD21735-0EE2-40CC-99A9-36DA6DD64BC2}"/>
              </a:ext>
            </a:extLst>
          </p:cNvPr>
          <p:cNvSpPr>
            <a:spLocks noGrp="1"/>
          </p:cNvSpPr>
          <p:nvPr/>
        </p:nvSpPr>
        <p:spPr>
          <a:xfrm>
            <a:off x="3752850" y="2628900"/>
            <a:ext cx="419100" cy="38100"/>
          </a:xfrm>
          <a:prstGeom prst="rect">
            <a:avLst/>
          </a:prstGeom>
          <a:solidFill>
            <a:srgbClr val="00D3F2"/>
          </a:solidFill>
          <a:ln w="9525">
            <a:solidFill>
              <a:srgbClr val="00D3F2"/>
            </a:solidFill>
            <a:prstDash val="solid"/>
          </a:ln>
        </p:spPr>
      </p:sp>
      <p:sp>
        <p:nvSpPr>
          <p:cNvPr id="17" name="">
            <a:extLst>
              <a:ext uri="{FF2B5EF4-FFF2-40B4-BE49-F238E27FC236}">
                <ns2:creationId id="{65EBE1D8-36A0-45CE-84E9-8BF42BE5881B}"/>
              </a:ext>
            </a:extLst>
          </p:cNvPr>
          <p:cNvSpPr>
            <a:spLocks noGrp="1"/>
          </p:cNvSpPr>
          <p:nvPr/>
        </p:nvSpPr>
        <p:spPr>
          <a:xfrm>
            <a:off x="3752850" y="2895600"/>
            <a:ext cx="1714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Prompt</a:t>
            </a:r>
          </a:p>
        </p:txBody>
      </p:sp>
      <p:sp>
        <p:nvSpPr>
          <p:cNvPr id="18" name="">
            <a:extLst>
              <a:ext uri="{FF2B5EF4-FFF2-40B4-BE49-F238E27FC236}">
                <ns2:creationId id="{3CF92AD1-B92C-4ECD-BAC4-741B75E09D08}"/>
              </a:ext>
            </a:extLst>
          </p:cNvPr>
          <p:cNvSpPr>
            <a:spLocks noGrp="1"/>
          </p:cNvSpPr>
          <p:nvPr/>
        </p:nvSpPr>
        <p:spPr>
          <a:xfrm>
            <a:off x="3752850" y="3429000"/>
            <a:ext cx="17907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E2E8F0"/>
                </a:solidFill>
              </a:defRPr>
            </a:pPr>
            <a:r>
              <a:rPr sz="1200" b="0">
                <a:solidFill>
                  <a:srgbClr val="E2E8F0"/>
                </a:solidFill>
              </a:rPr>
              <a:t>box from mask</a:t>
            </a:r>
          </a:p>
          <a:p>
            <a:pPr algn="l">
              <a:defRPr sz="1200" b="0">
                <a:solidFill>
                  <a:srgbClr val="E2E8F0"/>
                </a:solidFill>
              </a:defRPr>
            </a:pPr>
            <a:r>
              <a:rPr sz="1200" b="0">
                <a:solidFill>
                  <a:srgbClr val="E2E8F0"/>
                </a:solidFill>
              </a:rPr>
              <a:t>or default image box</a:t>
            </a:r>
          </a:p>
        </p:txBody>
      </p:sp>
      <p:sp>
        <p:nvSpPr>
          <p:cNvPr id="19" name="">
            <a:extLst>
              <a:ext uri="{FF2B5EF4-FFF2-40B4-BE49-F238E27FC236}">
                <ns2:creationId id="{C4C5DCDC-CD47-4D9E-91F3-9813FE808BAA}"/>
              </a:ext>
            </a:extLst>
          </p:cNvPr>
          <p:cNvSpPr>
            <a:spLocks noGrp="1"/>
          </p:cNvSpPr>
          <p:nvPr/>
        </p:nvSpPr>
        <p:spPr>
          <a:xfrm>
            <a:off x="6191250" y="2381250"/>
            <a:ext cx="2266950" cy="1809750"/>
          </a:xfrm>
          <a:prstGeom prst="roundRect">
            <a:avLst>
              <a:gd name="adj" fmla="val 6316"/>
            </a:avLst>
          </a:prstGeom>
          <a:solidFill>
            <a:srgbClr val="0F172B"/>
          </a:solidFill>
          <a:ln w="9525">
            <a:solidFill>
              <a:srgbClr val="314158"/>
            </a:solidFill>
            <a:prstDash val="solid"/>
          </a:ln>
        </p:spPr>
      </p:sp>
      <p:sp>
        <p:nvSpPr>
          <p:cNvPr id="20" name="">
            <a:extLst>
              <a:ext uri="{FF2B5EF4-FFF2-40B4-BE49-F238E27FC236}">
                <ns2:creationId id="{3CE38815-0756-4C7E-9BF3-3799C589F087}"/>
              </a:ext>
            </a:extLst>
          </p:cNvPr>
          <p:cNvSpPr>
            <a:spLocks noGrp="1"/>
          </p:cNvSpPr>
          <p:nvPr/>
        </p:nvSpPr>
        <p:spPr>
          <a:xfrm>
            <a:off x="6400800" y="2628900"/>
            <a:ext cx="419100" cy="38100"/>
          </a:xfrm>
          <a:prstGeom prst="rect">
            <a:avLst/>
          </a:prstGeom>
          <a:solidFill>
            <a:srgbClr val="00D492"/>
          </a:solidFill>
          <a:ln w="9525">
            <a:solidFill>
              <a:srgbClr val="00D492"/>
            </a:solidFill>
            <a:prstDash val="solid"/>
          </a:ln>
        </p:spPr>
      </p:sp>
      <p:sp>
        <p:nvSpPr>
          <p:cNvPr id="21" name="">
            <a:extLst>
              <a:ext uri="{FF2B5EF4-FFF2-40B4-BE49-F238E27FC236}">
                <ns2:creationId id="{8262CA6C-D46F-4CB2-8DE8-36899F7A2182}"/>
              </a:ext>
            </a:extLst>
          </p:cNvPr>
          <p:cNvSpPr>
            <a:spLocks noGrp="1"/>
          </p:cNvSpPr>
          <p:nvPr/>
        </p:nvSpPr>
        <p:spPr>
          <a:xfrm>
            <a:off x="6400800" y="2895600"/>
            <a:ext cx="1714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Inference</a:t>
            </a:r>
          </a:p>
        </p:txBody>
      </p:sp>
      <p:sp>
        <p:nvSpPr>
          <p:cNvPr id="22" name="">
            <a:extLst>
              <a:ext uri="{FF2B5EF4-FFF2-40B4-BE49-F238E27FC236}">
                <ns2:creationId id="{0A7682BA-2F63-43C2-81F2-45B7EA144BE2}"/>
              </a:ext>
            </a:extLst>
          </p:cNvPr>
          <p:cNvSpPr>
            <a:spLocks noGrp="1"/>
          </p:cNvSpPr>
          <p:nvPr/>
        </p:nvSpPr>
        <p:spPr>
          <a:xfrm>
            <a:off x="6400800" y="3429000"/>
            <a:ext cx="17907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E2E8F0"/>
                </a:solidFill>
              </a:defRPr>
            </a:pPr>
            <a:r>
              <a:rPr sz="1200" b="0">
                <a:solidFill>
                  <a:srgbClr val="E2E8F0"/>
                </a:solidFill>
              </a:rPr>
              <a:t>single-slice prediction</a:t>
            </a:r>
          </a:p>
          <a:p>
            <a:pPr algn="l">
              <a:defRPr sz="1200" b="0">
                <a:solidFill>
                  <a:srgbClr val="E2E8F0"/>
                </a:solidFill>
              </a:defRPr>
            </a:pPr>
            <a:r>
              <a:rPr sz="1200" b="0">
                <a:solidFill>
                  <a:srgbClr val="E2E8F0"/>
                </a:solidFill>
              </a:rPr>
              <a:t>with CPU-safe loading</a:t>
            </a:r>
          </a:p>
        </p:txBody>
      </p:sp>
      <p:sp>
        <p:nvSpPr>
          <p:cNvPr id="23" name="">
            <a:extLst>
              <a:ext uri="{FF2B5EF4-FFF2-40B4-BE49-F238E27FC236}">
                <ns2:creationId id="{7E0AFD99-BEA3-47CF-9EE7-D717F45CD83D}"/>
              </a:ext>
            </a:extLst>
          </p:cNvPr>
          <p:cNvSpPr>
            <a:spLocks noGrp="1"/>
          </p:cNvSpPr>
          <p:nvPr/>
        </p:nvSpPr>
        <p:spPr>
          <a:xfrm>
            <a:off x="8839200" y="2381250"/>
            <a:ext cx="2266950" cy="1809750"/>
          </a:xfrm>
          <a:prstGeom prst="roundRect">
            <a:avLst>
              <a:gd name="adj" fmla="val 6316"/>
            </a:avLst>
          </a:prstGeom>
          <a:solidFill>
            <a:srgbClr val="0F172B"/>
          </a:solidFill>
          <a:ln w="9525">
            <a:solidFill>
              <a:srgbClr val="314158"/>
            </a:solidFill>
            <a:prstDash val="solid"/>
          </a:ln>
        </p:spPr>
      </p:sp>
      <p:sp>
        <p:nvSpPr>
          <p:cNvPr id="24" name="">
            <a:extLst>
              <a:ext uri="{FF2B5EF4-FFF2-40B4-BE49-F238E27FC236}">
                <ns2:creationId id="{E4EC99F4-4812-48FB-A868-1B968A696042}"/>
              </a:ext>
            </a:extLst>
          </p:cNvPr>
          <p:cNvSpPr>
            <a:spLocks noGrp="1"/>
          </p:cNvSpPr>
          <p:nvPr/>
        </p:nvSpPr>
        <p:spPr>
          <a:xfrm>
            <a:off x="9048750" y="2628900"/>
            <a:ext cx="419100" cy="38100"/>
          </a:xfrm>
          <a:prstGeom prst="rect">
            <a:avLst/>
          </a:prstGeom>
          <a:solidFill>
            <a:srgbClr val="A684FF"/>
          </a:solidFill>
          <a:ln w="9525">
            <a:solidFill>
              <a:srgbClr val="A684FF"/>
            </a:solidFill>
            <a:prstDash val="solid"/>
          </a:ln>
        </p:spPr>
      </p:sp>
      <p:sp>
        <p:nvSpPr>
          <p:cNvPr id="25" name="">
            <a:extLst>
              <a:ext uri="{FF2B5EF4-FFF2-40B4-BE49-F238E27FC236}">
                <ns2:creationId id="{D50D0811-C0B6-4FFA-9AE1-4AB1FAE5381F}"/>
              </a:ext>
            </a:extLst>
          </p:cNvPr>
          <p:cNvSpPr>
            <a:spLocks noGrp="1"/>
          </p:cNvSpPr>
          <p:nvPr/>
        </p:nvSpPr>
        <p:spPr>
          <a:xfrm>
            <a:off x="9048750" y="2895600"/>
            <a:ext cx="1714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Output</a:t>
            </a:r>
          </a:p>
        </p:txBody>
      </p:sp>
      <p:sp>
        <p:nvSpPr>
          <p:cNvPr id="26" name="">
            <a:extLst>
              <a:ext uri="{FF2B5EF4-FFF2-40B4-BE49-F238E27FC236}">
                <ns2:creationId id="{2D7E6347-B824-4415-93DF-7F5AD88A91C1}"/>
              </a:ext>
            </a:extLst>
          </p:cNvPr>
          <p:cNvSpPr>
            <a:spLocks noGrp="1"/>
          </p:cNvSpPr>
          <p:nvPr/>
        </p:nvSpPr>
        <p:spPr>
          <a:xfrm>
            <a:off x="9048750" y="3429000"/>
            <a:ext cx="17907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E2E8F0"/>
                </a:solidFill>
              </a:defRPr>
            </a:pPr>
            <a:r>
              <a:rPr sz="1200" b="0">
                <a:solidFill>
                  <a:srgbClr val="E2E8F0"/>
                </a:solidFill>
              </a:rPr>
              <a:t>saved prediction</a:t>
            </a:r>
          </a:p>
          <a:p>
            <a:pPr algn="l">
              <a:defRPr sz="1200" b="0">
                <a:solidFill>
                  <a:srgbClr val="E2E8F0"/>
                </a:solidFill>
              </a:defRPr>
            </a:pPr>
            <a:r>
              <a:rPr sz="1200" b="0">
                <a:solidFill>
                  <a:srgbClr val="E2E8F0"/>
                </a:solidFill>
              </a:rPr>
              <a:t>for visualization</a:t>
            </a:r>
          </a:p>
        </p:txBody>
      </p:sp>
      <p:sp>
        <p:nvSpPr>
          <p:cNvPr id="27" name="">
            <a:extLst>
              <a:ext uri="{FF2B5EF4-FFF2-40B4-BE49-F238E27FC236}">
                <ns2:creationId id="{ACF92AF4-7DDF-4608-88DD-B04C06E1074C}"/>
              </a:ext>
            </a:extLst>
          </p:cNvPr>
          <p:cNvSpPr>
            <a:spLocks noGrp="1"/>
          </p:cNvSpPr>
          <p:nvPr/>
        </p:nvSpPr>
        <p:spPr>
          <a:xfrm>
            <a:off x="1790700" y="4876800"/>
            <a:ext cx="8610600" cy="628650"/>
          </a:xfrm>
          <a:prstGeom prst="roundRect">
            <a:avLst>
              <a:gd name="adj" fmla="val 18182"/>
            </a:avLst>
          </a:prstGeom>
          <a:solidFill>
            <a:srgbClr val="0F172B"/>
          </a:solidFill>
          <a:ln w="9525">
            <a:solidFill>
              <a:srgbClr val="314158"/>
            </a:solidFill>
            <a:prstDash val="solid"/>
          </a:ln>
        </p:spPr>
      </p:sp>
      <p:sp>
        <p:nvSpPr>
          <p:cNvPr id="28" name="">
            <a:extLst>
              <a:ext uri="{FF2B5EF4-FFF2-40B4-BE49-F238E27FC236}">
                <ns2:creationId id="{3F3D96A9-53CA-443F-BAB3-6824C505A2C4}"/>
              </a:ext>
            </a:extLst>
          </p:cNvPr>
          <p:cNvSpPr>
            <a:spLocks noGrp="1"/>
          </p:cNvSpPr>
          <p:nvPr/>
        </p:nvSpPr>
        <p:spPr>
          <a:xfrm>
            <a:off x="2076450" y="5095875"/>
            <a:ext cx="8039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FFD230"/>
                </a:solidFill>
              </a:defRPr>
            </a:pPr>
            <a:r>
              <a:rPr sz="1350" b="1">
                <a:solidFill>
                  <a:srgbClr val="FFD230"/>
                </a:solidFill>
              </a:rPr>
              <a:t>If the checkpoint is missing, the UI reports a clear status and asks the user to configure model weights before inference.</a:t>
            </a:r>
          </a:p>
        </p:txBody>
      </p:sp>
      <p:sp>
        <p:nvSpPr>
          <p:cNvPr id="29" name="">
            <a:extLst>
              <a:ext uri="{FF2B5EF4-FFF2-40B4-BE49-F238E27FC236}">
                <ns2:creationId id="{71462E1E-31D5-496A-896F-6F19A2518A35}"/>
              </a:ext>
            </a:extLst>
          </p:cNvPr>
          <p:cNvSpPr>
            <a:spLocks noGrp="1"/>
          </p:cNvSpPr>
          <p:nvPr/>
        </p:nvSpPr>
        <p:spPr>
          <a:xfrm>
            <a:off x="685800" y="6515100"/>
            <a:ext cx="3238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1">
                <a:solidFill>
                  <a:srgbClr val="62748E"/>
                </a:solidFill>
              </a:defRPr>
            </a:pPr>
            <a:r>
              <a:rPr sz="750" b="1">
                <a:solidFill>
                  <a:srgbClr val="62748E"/>
                </a:solidFill>
              </a:rPr>
              <a:t>3D Medical Image Intelligent Agent</a:t>
            </a:r>
          </a:p>
        </p:txBody>
      </p:sp>
      <p:sp>
        <p:nvSpPr>
          <p:cNvPr id="30" name="">
            <a:extLst>
              <a:ext uri="{FF2B5EF4-FFF2-40B4-BE49-F238E27FC236}">
                <ns2:creationId id="{BF2F88B9-08FC-454F-BFEB-D11FA4753EEE}"/>
              </a:ext>
            </a:extLst>
          </p:cNvPr>
          <p:cNvSpPr>
            <a:spLocks noGrp="1"/>
          </p:cNvSpPr>
          <p:nvPr/>
        </p:nvSpPr>
        <p:spPr>
          <a:xfrm>
            <a:off x="8096250" y="6515100"/>
            <a:ext cx="34099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750" b="1">
                <a:solidFill>
                  <a:srgbClr val="62748E"/>
                </a:solidFill>
              </a:defRPr>
            </a:pPr>
            <a:r>
              <a:rPr sz="750" b="1">
                <a:solidFill>
                  <a:srgbClr val="62748E"/>
                </a:solidFill>
              </a:rPr>
              <a:t>Local RAG | NIfTI | Segmentation | MedSAM</a:t>
            </a:r>
          </a:p>
        </p:txBody>
      </p:sp>
    </p:spTree>
    <p:extLst>
      <p:ext uri="{BB962C8B-B14F-4D97-AF65-F5344CB8AC3E}">
        <ns3:creationId val="1455394833"/>
      </p:ext>
    </p:extLst>
  </p:cSld>
</p:sld>
</file>

<file path=ppt/slides/slide9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020618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" name="">
            <a:extLst>
              <a:ext uri="{FF2B5EF4-FFF2-40B4-BE49-F238E27FC236}">
                <ns2:creationId id="{48573E27-DFE5-40C3-8143-A84F45252AE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20618"/>
          </a:solidFill>
          <a:ln w="9525">
            <a:solidFill>
              <a:srgbClr val="020618"/>
            </a:solidFill>
            <a:prstDash val="solid"/>
          </a:ln>
        </p:spPr>
      </p:sp>
      <p:sp>
        <p:nvSpPr>
          <p:cNvPr id="2" name="">
            <a:extLst>
              <a:ext uri="{FF2B5EF4-FFF2-40B4-BE49-F238E27FC236}">
                <ns2:creationId id="{82D0FCB4-5790-4127-83FA-A6F5BBF1924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47625"/>
          </a:xfrm>
          <a:prstGeom prst="rect">
            <a:avLst/>
          </a:prstGeom>
          <a:solidFill>
            <a:srgbClr val="00D3F2"/>
          </a:solidFill>
          <a:ln w="9525">
            <a:solidFill>
              <a:srgbClr val="00D3F2"/>
            </a:solidFill>
            <a:prstDash val="solid"/>
          </a:ln>
        </p:spPr>
      </p:sp>
      <p:sp>
        <p:nvSpPr>
          <p:cNvPr id="3" name="">
            <a:extLst>
              <a:ext uri="{FF2B5EF4-FFF2-40B4-BE49-F238E27FC236}">
                <ns2:creationId id="{CEBF38F2-E3EE-4582-B55E-AE55EAAE43D9}"/>
              </a:ext>
            </a:extLst>
          </p:cNvPr>
          <p:cNvSpPr>
            <a:spLocks noGrp="1"/>
          </p:cNvSpPr>
          <p:nvPr/>
        </p:nvSpPr>
        <p:spPr>
          <a:xfrm>
            <a:off x="0" y="6810375"/>
            <a:ext cx="12192000" cy="47625"/>
          </a:xfrm>
          <a:prstGeom prst="rect">
            <a:avLst/>
          </a:prstGeom>
          <a:solidFill>
            <a:srgbClr val="1D293D"/>
          </a:solidFill>
          <a:ln w="9525">
            <a:solidFill>
              <a:srgbClr val="1D293D"/>
            </a:solidFill>
            <a:prstDash val="solid"/>
          </a:ln>
        </p:spPr>
      </p:sp>
      <p:sp>
        <p:nvSpPr>
          <p:cNvPr id="4" name="">
            <a:extLst>
              <a:ext uri="{FF2B5EF4-FFF2-40B4-BE49-F238E27FC236}">
                <ns2:creationId id="{AF883517-B6B3-43D3-AD87-46293A39C6AB}"/>
              </a:ext>
            </a:extLst>
          </p:cNvPr>
          <p:cNvSpPr>
            <a:spLocks noGrp="1"/>
          </p:cNvSpPr>
          <p:nvPr/>
        </p:nvSpPr>
        <p:spPr>
          <a:xfrm>
            <a:off x="8858250" y="-1619250"/>
            <a:ext cx="4095750" cy="4095750"/>
          </a:xfrm>
          <a:prstGeom prst="ellipse">
            <a:avLst/>
          </a:prstGeom>
          <a:solidFill>
            <a:srgbClr val="0F172B"/>
          </a:solidFill>
          <a:ln w="9525">
            <a:solidFill>
              <a:srgbClr val="0F172B"/>
            </a:solidFill>
            <a:prstDash val="solid"/>
          </a:ln>
        </p:spPr>
      </p:sp>
      <p:sp>
        <p:nvSpPr>
          <p:cNvPr id="5" name="">
            <a:extLst>
              <a:ext uri="{FF2B5EF4-FFF2-40B4-BE49-F238E27FC236}">
                <ns2:creationId id="{97C7027E-F7AE-4B94-B8D6-6B034862D691}"/>
              </a:ext>
            </a:extLst>
          </p:cNvPr>
          <p:cNvSpPr>
            <a:spLocks noGrp="1"/>
          </p:cNvSpPr>
          <p:nvPr/>
        </p:nvSpPr>
        <p:spPr>
          <a:xfrm>
            <a:off x="-2000250" y="4476750"/>
            <a:ext cx="3429000" cy="3429000"/>
          </a:xfrm>
          <a:prstGeom prst="ellipse">
            <a:avLst/>
          </a:prstGeom>
          <a:solidFill>
            <a:srgbClr val="0F172B"/>
          </a:solidFill>
          <a:ln w="9525">
            <a:solidFill>
              <a:srgbClr val="0F172B"/>
            </a:solidFill>
            <a:prstDash val="solid"/>
          </a:ln>
        </p:spPr>
      </p:sp>
      <p:sp>
        <p:nvSpPr>
          <p:cNvPr id="6" name="">
            <a:extLst>
              <a:ext uri="{FF2B5EF4-FFF2-40B4-BE49-F238E27FC236}">
                <ns2:creationId id="{BA20F9C9-521B-4AE1-839D-E586862DAF84}"/>
              </a:ext>
            </a:extLst>
          </p:cNvPr>
          <p:cNvSpPr>
            <a:spLocks noGrp="1"/>
          </p:cNvSpPr>
          <p:nvPr/>
        </p:nvSpPr>
        <p:spPr>
          <a:xfrm>
            <a:off x="685800" y="323850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00D3F2"/>
                </a:solidFill>
              </a:defRPr>
            </a:pPr>
            <a:r>
              <a:rPr sz="900" b="1">
                <a:solidFill>
                  <a:srgbClr val="00D3F2"/>
                </a:solidFill>
              </a:rPr>
              <a:t>RUNTIME MODULE MAP</a:t>
            </a:r>
          </a:p>
        </p:txBody>
      </p:sp>
      <p:sp>
        <p:nvSpPr>
          <p:cNvPr id="7" name="">
            <a:extLst>
              <a:ext uri="{FF2B5EF4-FFF2-40B4-BE49-F238E27FC236}">
                <ns2:creationId id="{72D338CF-CD84-49CA-9AB8-15606681D538}"/>
              </a:ext>
            </a:extLst>
          </p:cNvPr>
          <p:cNvSpPr>
            <a:spLocks noGrp="1"/>
          </p:cNvSpPr>
          <p:nvPr/>
        </p:nvSpPr>
        <p:spPr>
          <a:xfrm>
            <a:off x="11068050" y="32385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90A1B9"/>
                </a:solidFill>
              </a:defRPr>
            </a:pPr>
            <a:r>
              <a:rPr sz="900" b="1">
                <a:solidFill>
                  <a:srgbClr val="90A1B9"/>
                </a:solidFill>
              </a:rPr>
              <a:t>09</a:t>
            </a:r>
          </a:p>
        </p:txBody>
      </p:sp>
      <p:sp>
        <p:nvSpPr>
          <p:cNvPr id="8" name="">
            <a:extLst>
              <a:ext uri="{FF2B5EF4-FFF2-40B4-BE49-F238E27FC236}">
                <ns2:creationId id="{853A8347-F2AC-49AF-AF26-97E318771719}"/>
              </a:ext>
            </a:extLst>
          </p:cNvPr>
          <p:cNvSpPr>
            <a:spLocks noGrp="1"/>
          </p:cNvSpPr>
          <p:nvPr/>
        </p:nvSpPr>
        <p:spPr>
          <a:xfrm>
            <a:off x="685800" y="685800"/>
            <a:ext cx="8953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Code files mapped to project roles</a:t>
            </a:r>
          </a:p>
        </p:txBody>
      </p:sp>
      <p:sp>
        <p:nvSpPr>
          <p:cNvPr id="9" name="">
            <a:extLst>
              <a:ext uri="{FF2B5EF4-FFF2-40B4-BE49-F238E27FC236}">
                <ns2:creationId id="{1F04AA65-14D2-4703-8A03-43A0093FAB54}"/>
              </a:ext>
            </a:extLst>
          </p:cNvPr>
          <p:cNvSpPr>
            <a:spLocks noGrp="1"/>
          </p:cNvSpPr>
          <p:nvPr/>
        </p:nvSpPr>
        <p:spPr>
          <a:xfrm>
            <a:off x="685800" y="1257300"/>
            <a:ext cx="857250" cy="38100"/>
          </a:xfrm>
          <a:prstGeom prst="rect">
            <a:avLst/>
          </a:prstGeom>
          <a:solidFill>
            <a:srgbClr val="00D3F2"/>
          </a:solidFill>
          <a:ln w="9525">
            <a:solidFill>
              <a:srgbClr val="00D3F2"/>
            </a:solidFill>
            <a:prstDash val="solid"/>
          </a:ln>
        </p:spPr>
      </p:sp>
      <p:sp>
        <p:nvSpPr>
          <p:cNvPr id="10" name="">
            <a:extLst>
              <a:ext uri="{FF2B5EF4-FFF2-40B4-BE49-F238E27FC236}">
                <ns2:creationId id="{CE714455-4D6A-4AEA-960F-561F632FD466}"/>
              </a:ext>
            </a:extLst>
          </p:cNvPr>
          <p:cNvSpPr>
            <a:spLocks noGrp="1"/>
          </p:cNvSpPr>
          <p:nvPr/>
        </p:nvSpPr>
        <p:spPr>
          <a:xfrm>
            <a:off x="933450" y="1619250"/>
            <a:ext cx="10325100" cy="514350"/>
          </a:xfrm>
          <a:prstGeom prst="roundRect">
            <a:avLst>
              <a:gd name="adj" fmla="val 14815"/>
            </a:avLst>
          </a:prstGeom>
          <a:solidFill>
            <a:srgbClr val="0F172B"/>
          </a:solidFill>
          <a:ln w="9525">
            <a:solidFill>
              <a:srgbClr val="314158"/>
            </a:solidFill>
            <a:prstDash val="solid"/>
          </a:ln>
        </p:spPr>
      </p:sp>
      <p:sp>
        <p:nvSpPr>
          <p:cNvPr id="11" name="">
            <a:extLst>
              <a:ext uri="{FF2B5EF4-FFF2-40B4-BE49-F238E27FC236}">
                <ns2:creationId id="{E5C72E51-29DF-4C56-B200-CCFA097A2829}"/>
              </a:ext>
            </a:extLst>
          </p:cNvPr>
          <p:cNvSpPr>
            <a:spLocks noGrp="1"/>
          </p:cNvSpPr>
          <p:nvPr/>
        </p:nvSpPr>
        <p:spPr>
          <a:xfrm>
            <a:off x="1219200" y="1762125"/>
            <a:ext cx="3143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00D3F2"/>
                </a:solidFill>
              </a:defRPr>
            </a:pPr>
            <a:r>
              <a:rPr sz="1200" b="1">
                <a:solidFill>
                  <a:srgbClr val="00D3F2"/>
                </a:solidFill>
              </a:rPr>
              <a:t>web_ui.py</a:t>
            </a:r>
          </a:p>
        </p:txBody>
      </p:sp>
      <p:sp>
        <p:nvSpPr>
          <p:cNvPr id="12" name="">
            <a:extLst>
              <a:ext uri="{FF2B5EF4-FFF2-40B4-BE49-F238E27FC236}">
                <ns2:creationId id="{C1F2D978-6DFB-4215-BD5E-7AEB70729420}"/>
              </a:ext>
            </a:extLst>
          </p:cNvPr>
          <p:cNvSpPr>
            <a:spLocks noGrp="1"/>
          </p:cNvSpPr>
          <p:nvPr/>
        </p:nvSpPr>
        <p:spPr>
          <a:xfrm>
            <a:off x="4438650" y="1752600"/>
            <a:ext cx="647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E2E8F0"/>
                </a:solidFill>
              </a:defRPr>
            </a:pPr>
            <a:r>
              <a:rPr sz="1125" b="0">
                <a:solidFill>
                  <a:srgbClr val="E2E8F0"/>
                </a:solidFill>
              </a:rPr>
              <a:t>Gradio interface, tabs, controls, event wiring</a:t>
            </a:r>
          </a:p>
        </p:txBody>
      </p:sp>
      <p:sp>
        <p:nvSpPr>
          <p:cNvPr id="13" name="">
            <a:extLst>
              <a:ext uri="{FF2B5EF4-FFF2-40B4-BE49-F238E27FC236}">
                <ns2:creationId id="{183CCAF3-97D1-47DE-BC72-8525603B9206}"/>
              </a:ext>
            </a:extLst>
          </p:cNvPr>
          <p:cNvSpPr>
            <a:spLocks noGrp="1"/>
          </p:cNvSpPr>
          <p:nvPr/>
        </p:nvSpPr>
        <p:spPr>
          <a:xfrm>
            <a:off x="933450" y="2286000"/>
            <a:ext cx="10325100" cy="514350"/>
          </a:xfrm>
          <a:prstGeom prst="roundRect">
            <a:avLst>
              <a:gd name="adj" fmla="val 14815"/>
            </a:avLst>
          </a:prstGeom>
          <a:solidFill>
            <a:srgbClr val="1D293D"/>
          </a:solidFill>
          <a:ln w="9525">
            <a:solidFill>
              <a:srgbClr val="314158"/>
            </a:solidFill>
            <a:prstDash val="solid"/>
          </a:ln>
        </p:spPr>
      </p:sp>
      <p:sp>
        <p:nvSpPr>
          <p:cNvPr id="14" name="">
            <a:extLst>
              <a:ext uri="{FF2B5EF4-FFF2-40B4-BE49-F238E27FC236}">
                <ns2:creationId id="{36E6D91E-371B-44C4-BF4E-71CAA2F46E2E}"/>
              </a:ext>
            </a:extLst>
          </p:cNvPr>
          <p:cNvSpPr>
            <a:spLocks noGrp="1"/>
          </p:cNvSpPr>
          <p:nvPr/>
        </p:nvSpPr>
        <p:spPr>
          <a:xfrm>
            <a:off x="1219200" y="2428875"/>
            <a:ext cx="3143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00D492"/>
                </a:solidFill>
              </a:defRPr>
            </a:pPr>
            <a:r>
              <a:rPr sz="1200" b="1">
                <a:solidFill>
                  <a:srgbClr val="00D492"/>
                </a:solidFill>
              </a:rPr>
              <a:t>expert_qa_agent.py</a:t>
            </a:r>
          </a:p>
        </p:txBody>
      </p:sp>
      <p:sp>
        <p:nvSpPr>
          <p:cNvPr id="15" name="">
            <a:extLst>
              <a:ext uri="{FF2B5EF4-FFF2-40B4-BE49-F238E27FC236}">
                <ns2:creationId id="{B63E7E2A-6111-4369-B215-AD680D71C1E9}"/>
              </a:ext>
            </a:extLst>
          </p:cNvPr>
          <p:cNvSpPr>
            <a:spLocks noGrp="1"/>
          </p:cNvSpPr>
          <p:nvPr/>
        </p:nvSpPr>
        <p:spPr>
          <a:xfrm>
            <a:off x="4438650" y="2419350"/>
            <a:ext cx="647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E2E8F0"/>
                </a:solidFill>
              </a:defRPr>
            </a:pPr>
            <a:r>
              <a:rPr sz="1125" b="0">
                <a:solidFill>
                  <a:srgbClr val="E2E8F0"/>
                </a:solidFill>
              </a:rPr>
              <a:t>local RAG over knowledge assets and QA examples</a:t>
            </a:r>
          </a:p>
        </p:txBody>
      </p:sp>
      <p:sp>
        <p:nvSpPr>
          <p:cNvPr id="16" name="">
            <a:extLst>
              <a:ext uri="{FF2B5EF4-FFF2-40B4-BE49-F238E27FC236}">
                <ns2:creationId id="{30EBC9A4-8E5A-4D7C-9A85-162F2844F19D}"/>
              </a:ext>
            </a:extLst>
          </p:cNvPr>
          <p:cNvSpPr>
            <a:spLocks noGrp="1"/>
          </p:cNvSpPr>
          <p:nvPr/>
        </p:nvSpPr>
        <p:spPr>
          <a:xfrm>
            <a:off x="933450" y="2952750"/>
            <a:ext cx="10325100" cy="514350"/>
          </a:xfrm>
          <a:prstGeom prst="roundRect">
            <a:avLst>
              <a:gd name="adj" fmla="val 14815"/>
            </a:avLst>
          </a:prstGeom>
          <a:solidFill>
            <a:srgbClr val="0F172B"/>
          </a:solidFill>
          <a:ln w="9525">
            <a:solidFill>
              <a:srgbClr val="314158"/>
            </a:solidFill>
            <a:prstDash val="solid"/>
          </a:ln>
        </p:spPr>
      </p:sp>
      <p:sp>
        <p:nvSpPr>
          <p:cNvPr id="17" name="">
            <a:extLst>
              <a:ext uri="{FF2B5EF4-FFF2-40B4-BE49-F238E27FC236}">
                <ns2:creationId id="{DE7AF1AC-38AB-4588-BE6A-A0B614C0CC4C}"/>
              </a:ext>
            </a:extLst>
          </p:cNvPr>
          <p:cNvSpPr>
            <a:spLocks noGrp="1"/>
          </p:cNvSpPr>
          <p:nvPr/>
        </p:nvSpPr>
        <p:spPr>
          <a:xfrm>
            <a:off x="1219200" y="3095625"/>
            <a:ext cx="3143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00D3F2"/>
                </a:solidFill>
              </a:defRPr>
            </a:pPr>
            <a:r>
              <a:rPr sz="1200" b="1">
                <a:solidFill>
                  <a:srgbClr val="00D3F2"/>
                </a:solidFill>
              </a:rPr>
              <a:t>medical_agent.py</a:t>
            </a:r>
          </a:p>
        </p:txBody>
      </p:sp>
      <p:sp>
        <p:nvSpPr>
          <p:cNvPr id="18" name="">
            <a:extLst>
              <a:ext uri="{FF2B5EF4-FFF2-40B4-BE49-F238E27FC236}">
                <ns2:creationId id="{5CC92F19-7708-4DE2-9DF8-BBAEA52C3566}"/>
              </a:ext>
            </a:extLst>
          </p:cNvPr>
          <p:cNvSpPr>
            <a:spLocks noGrp="1"/>
          </p:cNvSpPr>
          <p:nvPr/>
        </p:nvSpPr>
        <p:spPr>
          <a:xfrm>
            <a:off x="4438650" y="3086100"/>
            <a:ext cx="647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E2E8F0"/>
                </a:solidFill>
              </a:defRPr>
            </a:pPr>
            <a:r>
              <a:rPr sz="1125" b="0">
                <a:solidFill>
                  <a:srgbClr val="E2E8F0"/>
                </a:solidFill>
              </a:rPr>
              <a:t>NIfTI loading, resizing, normalization, NumPy outputs</a:t>
            </a:r>
          </a:p>
        </p:txBody>
      </p:sp>
      <p:sp>
        <p:nvSpPr>
          <p:cNvPr id="19" name="">
            <a:extLst>
              <a:ext uri="{FF2B5EF4-FFF2-40B4-BE49-F238E27FC236}">
                <ns2:creationId id="{32CBDD68-D856-44CA-A65B-6FBA2180F4FA}"/>
              </a:ext>
            </a:extLst>
          </p:cNvPr>
          <p:cNvSpPr>
            <a:spLocks noGrp="1"/>
          </p:cNvSpPr>
          <p:nvPr/>
        </p:nvSpPr>
        <p:spPr>
          <a:xfrm>
            <a:off x="933450" y="3619500"/>
            <a:ext cx="10325100" cy="514350"/>
          </a:xfrm>
          <a:prstGeom prst="roundRect">
            <a:avLst>
              <a:gd name="adj" fmla="val 14815"/>
            </a:avLst>
          </a:prstGeom>
          <a:solidFill>
            <a:srgbClr val="1D293D"/>
          </a:solidFill>
          <a:ln w="9525">
            <a:solidFill>
              <a:srgbClr val="314158"/>
            </a:solidFill>
            <a:prstDash val="solid"/>
          </a:ln>
        </p:spPr>
      </p:sp>
      <p:sp>
        <p:nvSpPr>
          <p:cNvPr id="20" name="">
            <a:extLst>
              <a:ext uri="{FF2B5EF4-FFF2-40B4-BE49-F238E27FC236}">
                <ns2:creationId id="{E43A8FFB-B551-470B-B657-1DD5A4F5C326}"/>
              </a:ext>
            </a:extLst>
          </p:cNvPr>
          <p:cNvSpPr>
            <a:spLocks noGrp="1"/>
          </p:cNvSpPr>
          <p:nvPr/>
        </p:nvSpPr>
        <p:spPr>
          <a:xfrm>
            <a:off x="1219200" y="3762375"/>
            <a:ext cx="3143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00D492"/>
                </a:solidFill>
              </a:defRPr>
            </a:pPr>
            <a:r>
              <a:rPr sz="1200" b="1">
                <a:solidFill>
                  <a:srgbClr val="00D492"/>
                </a:solidFill>
              </a:rPr>
              <a:t>segmentation_visualizer.py</a:t>
            </a:r>
          </a:p>
        </p:txBody>
      </p:sp>
      <p:sp>
        <p:nvSpPr>
          <p:cNvPr id="21" name="">
            <a:extLst>
              <a:ext uri="{FF2B5EF4-FFF2-40B4-BE49-F238E27FC236}">
                <ns2:creationId id="{0FBAF36B-FC1A-4887-93C2-B8080E5DDFDD}"/>
              </a:ext>
            </a:extLst>
          </p:cNvPr>
          <p:cNvSpPr>
            <a:spLocks noGrp="1"/>
          </p:cNvSpPr>
          <p:nvPr/>
        </p:nvSpPr>
        <p:spPr>
          <a:xfrm>
            <a:off x="4438650" y="3752850"/>
            <a:ext cx="647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E2E8F0"/>
                </a:solidFill>
              </a:defRPr>
            </a:pPr>
            <a:r>
              <a:rPr sz="1125" b="0">
                <a:solidFill>
                  <a:srgbClr val="E2E8F0"/>
                </a:solidFill>
              </a:rPr>
              <a:t>slice rendering, overlays, Dice and IoU</a:t>
            </a:r>
          </a:p>
        </p:txBody>
      </p:sp>
      <p:sp>
        <p:nvSpPr>
          <p:cNvPr id="22" name="">
            <a:extLst>
              <a:ext uri="{FF2B5EF4-FFF2-40B4-BE49-F238E27FC236}">
                <ns2:creationId id="{5697DEB4-CAAE-44F5-90D0-CA32B7AA1BC2}"/>
              </a:ext>
            </a:extLst>
          </p:cNvPr>
          <p:cNvSpPr>
            <a:spLocks noGrp="1"/>
          </p:cNvSpPr>
          <p:nvPr/>
        </p:nvSpPr>
        <p:spPr>
          <a:xfrm>
            <a:off x="933450" y="4286250"/>
            <a:ext cx="10325100" cy="514350"/>
          </a:xfrm>
          <a:prstGeom prst="roundRect">
            <a:avLst>
              <a:gd name="adj" fmla="val 14815"/>
            </a:avLst>
          </a:prstGeom>
          <a:solidFill>
            <a:srgbClr val="0F172B"/>
          </a:solidFill>
          <a:ln w="9525">
            <a:solidFill>
              <a:srgbClr val="314158"/>
            </a:solidFill>
            <a:prstDash val="solid"/>
          </a:ln>
        </p:spPr>
      </p:sp>
      <p:sp>
        <p:nvSpPr>
          <p:cNvPr id="23" name="">
            <a:extLst>
              <a:ext uri="{FF2B5EF4-FFF2-40B4-BE49-F238E27FC236}">
                <ns2:creationId id="{603A10A8-6452-44C6-AA5F-023B0CD84864}"/>
              </a:ext>
            </a:extLst>
          </p:cNvPr>
          <p:cNvSpPr>
            <a:spLocks noGrp="1"/>
          </p:cNvSpPr>
          <p:nvPr/>
        </p:nvSpPr>
        <p:spPr>
          <a:xfrm>
            <a:off x="1219200" y="4429125"/>
            <a:ext cx="3143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00D3F2"/>
                </a:solidFill>
              </a:defRPr>
            </a:pPr>
            <a:r>
              <a:rPr sz="1200" b="1">
                <a:solidFill>
                  <a:srgbClr val="00D3F2"/>
                </a:solidFill>
              </a:rPr>
              <a:t>model_adapters/base.py</a:t>
            </a:r>
          </a:p>
        </p:txBody>
      </p:sp>
      <p:sp>
        <p:nvSpPr>
          <p:cNvPr id="24" name="">
            <a:extLst>
              <a:ext uri="{FF2B5EF4-FFF2-40B4-BE49-F238E27FC236}">
                <ns2:creationId id="{40D80A7A-43DC-4C25-AB63-4431D656A59A}"/>
              </a:ext>
            </a:extLst>
          </p:cNvPr>
          <p:cNvSpPr>
            <a:spLocks noGrp="1"/>
          </p:cNvSpPr>
          <p:nvPr/>
        </p:nvSpPr>
        <p:spPr>
          <a:xfrm>
            <a:off x="4438650" y="4419600"/>
            <a:ext cx="647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E2E8F0"/>
                </a:solidFill>
              </a:defRPr>
            </a:pPr>
            <a:r>
              <a:rPr sz="1125" b="0">
                <a:solidFill>
                  <a:srgbClr val="E2E8F0"/>
                </a:solidFill>
              </a:rPr>
              <a:t>shared adapter contract and unavailable-model status</a:t>
            </a:r>
          </a:p>
        </p:txBody>
      </p:sp>
      <p:sp>
        <p:nvSpPr>
          <p:cNvPr id="25" name="">
            <a:extLst>
              <a:ext uri="{FF2B5EF4-FFF2-40B4-BE49-F238E27FC236}">
                <ns2:creationId id="{0A877201-298A-471F-88F9-A5F027D40C10}"/>
              </a:ext>
            </a:extLst>
          </p:cNvPr>
          <p:cNvSpPr>
            <a:spLocks noGrp="1"/>
          </p:cNvSpPr>
          <p:nvPr/>
        </p:nvSpPr>
        <p:spPr>
          <a:xfrm>
            <a:off x="933450" y="4953000"/>
            <a:ext cx="10325100" cy="514350"/>
          </a:xfrm>
          <a:prstGeom prst="roundRect">
            <a:avLst>
              <a:gd name="adj" fmla="val 14815"/>
            </a:avLst>
          </a:prstGeom>
          <a:solidFill>
            <a:srgbClr val="1D293D"/>
          </a:solidFill>
          <a:ln w="9525">
            <a:solidFill>
              <a:srgbClr val="314158"/>
            </a:solidFill>
            <a:prstDash val="solid"/>
          </a:ln>
        </p:spPr>
      </p:sp>
      <p:sp>
        <p:nvSpPr>
          <p:cNvPr id="26" name="">
            <a:extLst>
              <a:ext uri="{FF2B5EF4-FFF2-40B4-BE49-F238E27FC236}">
                <ns2:creationId id="{1AFC4EF5-E7E0-43D9-94E6-09FB3D075334}"/>
              </a:ext>
            </a:extLst>
          </p:cNvPr>
          <p:cNvSpPr>
            <a:spLocks noGrp="1"/>
          </p:cNvSpPr>
          <p:nvPr/>
        </p:nvSpPr>
        <p:spPr>
          <a:xfrm>
            <a:off x="1219200" y="5095875"/>
            <a:ext cx="3143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00D492"/>
                </a:solidFill>
              </a:defRPr>
            </a:pPr>
            <a:r>
              <a:rPr sz="1200" b="1">
                <a:solidFill>
                  <a:srgbClr val="00D492"/>
                </a:solidFill>
              </a:rPr>
              <a:t>model_adapters/medsam_adapter.py</a:t>
            </a:r>
          </a:p>
        </p:txBody>
      </p:sp>
      <p:sp>
        <p:nvSpPr>
          <p:cNvPr id="27" name="">
            <a:extLst>
              <a:ext uri="{FF2B5EF4-FFF2-40B4-BE49-F238E27FC236}">
                <ns2:creationId id="{DC9E2FF7-8707-413F-BB1E-12EC69676CB6}"/>
              </a:ext>
            </a:extLst>
          </p:cNvPr>
          <p:cNvSpPr>
            <a:spLocks noGrp="1"/>
          </p:cNvSpPr>
          <p:nvPr/>
        </p:nvSpPr>
        <p:spPr>
          <a:xfrm>
            <a:off x="4438650" y="5086350"/>
            <a:ext cx="647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E2E8F0"/>
                </a:solidFill>
              </a:defRPr>
            </a:pPr>
            <a:r>
              <a:rPr sz="1125" b="0">
                <a:solidFill>
                  <a:srgbClr val="E2E8F0"/>
                </a:solidFill>
              </a:rPr>
              <a:t>MedSAM loading, prompt box inference, prediction output</a:t>
            </a:r>
          </a:p>
        </p:txBody>
      </p:sp>
      <p:sp>
        <p:nvSpPr>
          <p:cNvPr id="28" name="">
            <a:extLst>
              <a:ext uri="{FF2B5EF4-FFF2-40B4-BE49-F238E27FC236}">
                <ns2:creationId id="{15B3D4A9-8CEB-4E68-BF3C-161B9D714976}"/>
              </a:ext>
            </a:extLst>
          </p:cNvPr>
          <p:cNvSpPr>
            <a:spLocks noGrp="1"/>
          </p:cNvSpPr>
          <p:nvPr/>
        </p:nvSpPr>
        <p:spPr>
          <a:xfrm>
            <a:off x="685800" y="6515100"/>
            <a:ext cx="3238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1">
                <a:solidFill>
                  <a:srgbClr val="62748E"/>
                </a:solidFill>
              </a:defRPr>
            </a:pPr>
            <a:r>
              <a:rPr sz="750" b="1">
                <a:solidFill>
                  <a:srgbClr val="62748E"/>
                </a:solidFill>
              </a:rPr>
              <a:t>3D Medical Image Intelligent Agent</a:t>
            </a:r>
          </a:p>
        </p:txBody>
      </p:sp>
      <p:sp>
        <p:nvSpPr>
          <p:cNvPr id="29" name="">
            <a:extLst>
              <a:ext uri="{FF2B5EF4-FFF2-40B4-BE49-F238E27FC236}">
                <ns2:creationId id="{D26B6C16-23CD-4333-8825-BF00B61D0234}"/>
              </a:ext>
            </a:extLst>
          </p:cNvPr>
          <p:cNvSpPr>
            <a:spLocks noGrp="1"/>
          </p:cNvSpPr>
          <p:nvPr/>
        </p:nvSpPr>
        <p:spPr>
          <a:xfrm>
            <a:off x="8096250" y="6515100"/>
            <a:ext cx="34099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750" b="1">
                <a:solidFill>
                  <a:srgbClr val="62748E"/>
                </a:solidFill>
              </a:defRPr>
            </a:pPr>
            <a:r>
              <a:rPr sz="750" b="1">
                <a:solidFill>
                  <a:srgbClr val="62748E"/>
                </a:solidFill>
              </a:rPr>
              <a:t>Local RAG | NIfTI | Segmentation | MedSAM</a:t>
            </a:r>
          </a:p>
        </p:txBody>
      </p:sp>
    </p:spTree>
    <p:extLst>
      <p:ext uri="{BB962C8B-B14F-4D97-AF65-F5344CB8AC3E}">
        <ns3:creationId val="279070329"/>
      </p:ext>
    </p:extLst>
  </p:cSld>
</p:sld>
</file>

<file path=ppt/slides/slide10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020618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" name="">
            <a:extLst>
              <a:ext uri="{FF2B5EF4-FFF2-40B4-BE49-F238E27FC236}">
                <ns2:creationId id="{55291092-3E90-4E81-8A98-847A2D81D59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20618"/>
          </a:solidFill>
          <a:ln w="9525">
            <a:solidFill>
              <a:srgbClr val="020618"/>
            </a:solidFill>
            <a:prstDash val="solid"/>
          </a:ln>
        </p:spPr>
      </p:sp>
      <p:sp>
        <p:nvSpPr>
          <p:cNvPr id="2" name="">
            <a:extLst>
              <a:ext uri="{FF2B5EF4-FFF2-40B4-BE49-F238E27FC236}">
                <ns2:creationId id="{8E89D9EB-A10F-48E7-815A-C5776FDDEB9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47625"/>
          </a:xfrm>
          <a:prstGeom prst="rect">
            <a:avLst/>
          </a:prstGeom>
          <a:solidFill>
            <a:srgbClr val="00D3F2"/>
          </a:solidFill>
          <a:ln w="9525">
            <a:solidFill>
              <a:srgbClr val="00D3F2"/>
            </a:solidFill>
            <a:prstDash val="solid"/>
          </a:ln>
        </p:spPr>
      </p:sp>
      <p:sp>
        <p:nvSpPr>
          <p:cNvPr id="3" name="">
            <a:extLst>
              <a:ext uri="{FF2B5EF4-FFF2-40B4-BE49-F238E27FC236}">
                <ns2:creationId id="{D353F7BA-5007-469E-A805-D3C4C232F0A9}"/>
              </a:ext>
            </a:extLst>
          </p:cNvPr>
          <p:cNvSpPr>
            <a:spLocks noGrp="1"/>
          </p:cNvSpPr>
          <p:nvPr/>
        </p:nvSpPr>
        <p:spPr>
          <a:xfrm>
            <a:off x="0" y="6810375"/>
            <a:ext cx="12192000" cy="47625"/>
          </a:xfrm>
          <a:prstGeom prst="rect">
            <a:avLst/>
          </a:prstGeom>
          <a:solidFill>
            <a:srgbClr val="1D293D"/>
          </a:solidFill>
          <a:ln w="9525">
            <a:solidFill>
              <a:srgbClr val="1D293D"/>
            </a:solidFill>
            <a:prstDash val="solid"/>
          </a:ln>
        </p:spPr>
      </p:sp>
      <p:sp>
        <p:nvSpPr>
          <p:cNvPr id="4" name="">
            <a:extLst>
              <a:ext uri="{FF2B5EF4-FFF2-40B4-BE49-F238E27FC236}">
                <ns2:creationId id="{A64FA9E9-D305-4ECE-A152-3881199C4DFA}"/>
              </a:ext>
            </a:extLst>
          </p:cNvPr>
          <p:cNvSpPr>
            <a:spLocks noGrp="1"/>
          </p:cNvSpPr>
          <p:nvPr/>
        </p:nvSpPr>
        <p:spPr>
          <a:xfrm>
            <a:off x="8858250" y="-1619250"/>
            <a:ext cx="4095750" cy="4095750"/>
          </a:xfrm>
          <a:prstGeom prst="ellipse">
            <a:avLst/>
          </a:prstGeom>
          <a:solidFill>
            <a:srgbClr val="0F172B"/>
          </a:solidFill>
          <a:ln w="9525">
            <a:solidFill>
              <a:srgbClr val="0F172B"/>
            </a:solidFill>
            <a:prstDash val="solid"/>
          </a:ln>
        </p:spPr>
      </p:sp>
      <p:sp>
        <p:nvSpPr>
          <p:cNvPr id="5" name="">
            <a:extLst>
              <a:ext uri="{FF2B5EF4-FFF2-40B4-BE49-F238E27FC236}">
                <ns2:creationId id="{4AA457A8-8C2C-4992-83EE-554A5D7A4BFB}"/>
              </a:ext>
            </a:extLst>
          </p:cNvPr>
          <p:cNvSpPr>
            <a:spLocks noGrp="1"/>
          </p:cNvSpPr>
          <p:nvPr/>
        </p:nvSpPr>
        <p:spPr>
          <a:xfrm>
            <a:off x="-2000250" y="4476750"/>
            <a:ext cx="3429000" cy="3429000"/>
          </a:xfrm>
          <a:prstGeom prst="ellipse">
            <a:avLst/>
          </a:prstGeom>
          <a:solidFill>
            <a:srgbClr val="0F172B"/>
          </a:solidFill>
          <a:ln w="9525">
            <a:solidFill>
              <a:srgbClr val="0F172B"/>
            </a:solidFill>
            <a:prstDash val="solid"/>
          </a:ln>
        </p:spPr>
      </p:sp>
      <p:sp>
        <p:nvSpPr>
          <p:cNvPr id="6" name="">
            <a:extLst>
              <a:ext uri="{FF2B5EF4-FFF2-40B4-BE49-F238E27FC236}">
                <ns2:creationId id="{D79A536B-30EA-4BB3-B6EB-F7FE29D5185D}"/>
              </a:ext>
            </a:extLst>
          </p:cNvPr>
          <p:cNvSpPr>
            <a:spLocks noGrp="1"/>
          </p:cNvSpPr>
          <p:nvPr/>
        </p:nvSpPr>
        <p:spPr>
          <a:xfrm>
            <a:off x="685800" y="323850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00D3F2"/>
                </a:solidFill>
              </a:defRPr>
            </a:pPr>
            <a:r>
              <a:rPr sz="900" b="1">
                <a:solidFill>
                  <a:srgbClr val="00D3F2"/>
                </a:solidFill>
              </a:rPr>
              <a:t>DEMO NARRATIVE</a:t>
            </a:r>
          </a:p>
        </p:txBody>
      </p:sp>
      <p:sp>
        <p:nvSpPr>
          <p:cNvPr id="7" name="">
            <a:extLst>
              <a:ext uri="{FF2B5EF4-FFF2-40B4-BE49-F238E27FC236}">
                <ns2:creationId id="{DCB595F6-9BBF-4E2C-93F3-95E5AEC18214}"/>
              </a:ext>
            </a:extLst>
          </p:cNvPr>
          <p:cNvSpPr>
            <a:spLocks noGrp="1"/>
          </p:cNvSpPr>
          <p:nvPr/>
        </p:nvSpPr>
        <p:spPr>
          <a:xfrm>
            <a:off x="11068050" y="32385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90A1B9"/>
                </a:solidFill>
              </a:defRPr>
            </a:pPr>
            <a:r>
              <a:rPr sz="900" b="1">
                <a:solidFill>
                  <a:srgbClr val="90A1B9"/>
                </a:solidFill>
              </a:rPr>
              <a:t>10</a:t>
            </a:r>
          </a:p>
        </p:txBody>
      </p:sp>
      <p:sp>
        <p:nvSpPr>
          <p:cNvPr id="8" name="">
            <a:extLst>
              <a:ext uri="{FF2B5EF4-FFF2-40B4-BE49-F238E27FC236}">
                <ns2:creationId id="{438BC481-9C47-4875-8BEC-AF94B82795EA}"/>
              </a:ext>
            </a:extLst>
          </p:cNvPr>
          <p:cNvSpPr>
            <a:spLocks noGrp="1"/>
          </p:cNvSpPr>
          <p:nvPr/>
        </p:nvSpPr>
        <p:spPr>
          <a:xfrm>
            <a:off x="685800" y="685800"/>
            <a:ext cx="8953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From question to prediction in one local app</a:t>
            </a:r>
          </a:p>
        </p:txBody>
      </p:sp>
      <p:sp>
        <p:nvSpPr>
          <p:cNvPr id="9" name="">
            <a:extLst>
              <a:ext uri="{FF2B5EF4-FFF2-40B4-BE49-F238E27FC236}">
                <ns2:creationId id="{0D765BB0-3328-4133-84AA-E1078AB92A43}"/>
              </a:ext>
            </a:extLst>
          </p:cNvPr>
          <p:cNvSpPr>
            <a:spLocks noGrp="1"/>
          </p:cNvSpPr>
          <p:nvPr/>
        </p:nvSpPr>
        <p:spPr>
          <a:xfrm>
            <a:off x="685800" y="1257300"/>
            <a:ext cx="857250" cy="38100"/>
          </a:xfrm>
          <a:prstGeom prst="rect">
            <a:avLst/>
          </a:prstGeom>
          <a:solidFill>
            <a:srgbClr val="00D3F2"/>
          </a:solidFill>
          <a:ln w="9525">
            <a:solidFill>
              <a:srgbClr val="00D3F2"/>
            </a:solidFill>
            <a:prstDash val="solid"/>
          </a:ln>
        </p:spPr>
      </p:sp>
      <p:sp>
        <p:nvSpPr>
          <p:cNvPr id="10" name="">
            <a:extLst>
              <a:ext uri="{FF2B5EF4-FFF2-40B4-BE49-F238E27FC236}">
                <ns2:creationId id="{7673399A-5200-42E9-A469-EEDD200A8A8A}"/>
              </a:ext>
            </a:extLst>
          </p:cNvPr>
          <p:cNvSpPr>
            <a:spLocks noGrp="1"/>
          </p:cNvSpPr>
          <p:nvPr/>
        </p:nvSpPr>
        <p:spPr>
          <a:xfrm>
            <a:off x="1733550" y="2190750"/>
            <a:ext cx="838200" cy="838200"/>
          </a:xfrm>
          <a:prstGeom prst="ellipse">
            <a:avLst/>
          </a:prstGeom>
          <a:solidFill>
            <a:srgbClr val="00D3F2"/>
          </a:solidFill>
          <a:ln w="9525">
            <a:solidFill>
              <a:srgbClr val="00D3F2"/>
            </a:solidFill>
            <a:prstDash val="solid"/>
          </a:ln>
        </p:spPr>
      </p:sp>
      <p:sp>
        <p:nvSpPr>
          <p:cNvPr id="11" name="">
            <a:extLst>
              <a:ext uri="{FF2B5EF4-FFF2-40B4-BE49-F238E27FC236}">
                <ns2:creationId id="{A481048E-4930-44A9-A256-A7E3F09BAB78}"/>
              </a:ext>
            </a:extLst>
          </p:cNvPr>
          <p:cNvSpPr>
            <a:spLocks noGrp="1"/>
          </p:cNvSpPr>
          <p:nvPr/>
        </p:nvSpPr>
        <p:spPr>
          <a:xfrm>
            <a:off x="1733550" y="2400300"/>
            <a:ext cx="8382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1</a:t>
            </a:r>
          </a:p>
        </p:txBody>
      </p:sp>
      <p:sp>
        <p:nvSpPr>
          <p:cNvPr id="12" name="">
            <a:extLst>
              <a:ext uri="{FF2B5EF4-FFF2-40B4-BE49-F238E27FC236}">
                <ns2:creationId id="{8D4EBFB1-AECE-4306-9A0C-788637E90A1D}"/>
              </a:ext>
            </a:extLst>
          </p:cNvPr>
          <p:cNvSpPr>
            <a:spLocks noGrp="1"/>
          </p:cNvSpPr>
          <p:nvPr/>
        </p:nvSpPr>
        <p:spPr>
          <a:xfrm>
            <a:off x="1066800" y="3276600"/>
            <a:ext cx="2171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Ask</a:t>
            </a:r>
          </a:p>
        </p:txBody>
      </p:sp>
      <p:sp>
        <p:nvSpPr>
          <p:cNvPr id="13" name="">
            <a:extLst>
              <a:ext uri="{FF2B5EF4-FFF2-40B4-BE49-F238E27FC236}">
                <ns2:creationId id="{446AE8E1-AE6B-4B79-A91E-7CCC08C3ACBD}"/>
              </a:ext>
            </a:extLst>
          </p:cNvPr>
          <p:cNvSpPr>
            <a:spLocks noGrp="1"/>
          </p:cNvSpPr>
          <p:nvPr/>
        </p:nvSpPr>
        <p:spPr>
          <a:xfrm>
            <a:off x="1066800" y="3752850"/>
            <a:ext cx="21717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>
                <a:solidFill>
                  <a:srgbClr val="E2E8F0"/>
                </a:solidFill>
              </a:defRPr>
            </a:pPr>
            <a:r>
              <a:rPr sz="1200" b="0">
                <a:solidFill>
                  <a:srgbClr val="E2E8F0"/>
                </a:solidFill>
              </a:rPr>
              <a:t>Query the local medical imaging knowledge base.</a:t>
            </a:r>
          </a:p>
        </p:txBody>
      </p:sp>
      <p:sp>
        <p:nvSpPr>
          <p:cNvPr id="14" name="">
            <a:extLst>
              <a:ext uri="{FF2B5EF4-FFF2-40B4-BE49-F238E27FC236}">
                <ns2:creationId id="{4EB74CCB-3B08-4CF8-8DB3-0B8BC81C85F3}"/>
              </a:ext>
            </a:extLst>
          </p:cNvPr>
          <p:cNvSpPr>
            <a:spLocks noGrp="1"/>
          </p:cNvSpPr>
          <p:nvPr/>
        </p:nvSpPr>
        <p:spPr>
          <a:xfrm>
            <a:off x="4324350" y="2190750"/>
            <a:ext cx="838200" cy="838200"/>
          </a:xfrm>
          <a:prstGeom prst="ellipse">
            <a:avLst/>
          </a:prstGeom>
          <a:solidFill>
            <a:srgbClr val="00D492"/>
          </a:solidFill>
          <a:ln w="9525">
            <a:solidFill>
              <a:srgbClr val="00D492"/>
            </a:solidFill>
            <a:prstDash val="solid"/>
          </a:ln>
        </p:spPr>
      </p:sp>
      <p:sp>
        <p:nvSpPr>
          <p:cNvPr id="15" name="">
            <a:extLst>
              <a:ext uri="{FF2B5EF4-FFF2-40B4-BE49-F238E27FC236}">
                <ns2:creationId id="{62C6DDFB-D8AF-4D7E-B085-32FF88F1DFC3}"/>
              </a:ext>
            </a:extLst>
          </p:cNvPr>
          <p:cNvSpPr>
            <a:spLocks noGrp="1"/>
          </p:cNvSpPr>
          <p:nvPr/>
        </p:nvSpPr>
        <p:spPr>
          <a:xfrm>
            <a:off x="4324350" y="2400300"/>
            <a:ext cx="8382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2</a:t>
            </a:r>
          </a:p>
        </p:txBody>
      </p:sp>
      <p:sp>
        <p:nvSpPr>
          <p:cNvPr id="16" name="">
            <a:extLst>
              <a:ext uri="{FF2B5EF4-FFF2-40B4-BE49-F238E27FC236}">
                <ns2:creationId id="{A287D632-AC5A-4A59-87F8-B3C8E44ECDBD}"/>
              </a:ext>
            </a:extLst>
          </p:cNvPr>
          <p:cNvSpPr>
            <a:spLocks noGrp="1"/>
          </p:cNvSpPr>
          <p:nvPr/>
        </p:nvSpPr>
        <p:spPr>
          <a:xfrm>
            <a:off x="3657600" y="3276600"/>
            <a:ext cx="2171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Process</a:t>
            </a:r>
          </a:p>
        </p:txBody>
      </p:sp>
      <p:sp>
        <p:nvSpPr>
          <p:cNvPr id="17" name="">
            <a:extLst>
              <a:ext uri="{FF2B5EF4-FFF2-40B4-BE49-F238E27FC236}">
                <ns2:creationId id="{5292606F-A622-436D-9558-59E43222D900}"/>
              </a:ext>
            </a:extLst>
          </p:cNvPr>
          <p:cNvSpPr>
            <a:spLocks noGrp="1"/>
          </p:cNvSpPr>
          <p:nvPr/>
        </p:nvSpPr>
        <p:spPr>
          <a:xfrm>
            <a:off x="3657600" y="3752850"/>
            <a:ext cx="21717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>
                <a:solidFill>
                  <a:srgbClr val="E2E8F0"/>
                </a:solidFill>
              </a:defRPr>
            </a:pPr>
            <a:r>
              <a:rPr sz="1200" b="0">
                <a:solidFill>
                  <a:srgbClr val="E2E8F0"/>
                </a:solidFill>
              </a:rPr>
              <a:t>Convert raw NIfTI files into standardized arrays.</a:t>
            </a:r>
          </a:p>
        </p:txBody>
      </p:sp>
      <p:sp>
        <p:nvSpPr>
          <p:cNvPr id="18" name="">
            <a:extLst>
              <a:ext uri="{FF2B5EF4-FFF2-40B4-BE49-F238E27FC236}">
                <ns2:creationId id="{C7B21D72-DB1B-4715-B035-E6297967937E}"/>
              </a:ext>
            </a:extLst>
          </p:cNvPr>
          <p:cNvSpPr>
            <a:spLocks noGrp="1"/>
          </p:cNvSpPr>
          <p:nvPr/>
        </p:nvSpPr>
        <p:spPr>
          <a:xfrm>
            <a:off x="6915150" y="2190750"/>
            <a:ext cx="838200" cy="838200"/>
          </a:xfrm>
          <a:prstGeom prst="ellipse">
            <a:avLst/>
          </a:prstGeom>
          <a:solidFill>
            <a:srgbClr val="A684FF"/>
          </a:solidFill>
          <a:ln w="9525">
            <a:solidFill>
              <a:srgbClr val="A684FF"/>
            </a:solidFill>
            <a:prstDash val="solid"/>
          </a:ln>
        </p:spPr>
      </p:sp>
      <p:sp>
        <p:nvSpPr>
          <p:cNvPr id="19" name="">
            <a:extLst>
              <a:ext uri="{FF2B5EF4-FFF2-40B4-BE49-F238E27FC236}">
                <ns2:creationId id="{490878A5-1A35-4C0C-83D4-397C63F2FB92}"/>
              </a:ext>
            </a:extLst>
          </p:cNvPr>
          <p:cNvSpPr>
            <a:spLocks noGrp="1"/>
          </p:cNvSpPr>
          <p:nvPr/>
        </p:nvSpPr>
        <p:spPr>
          <a:xfrm>
            <a:off x="6915150" y="2400300"/>
            <a:ext cx="8382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3</a:t>
            </a:r>
          </a:p>
        </p:txBody>
      </p:sp>
      <p:sp>
        <p:nvSpPr>
          <p:cNvPr id="20" name="">
            <a:extLst>
              <a:ext uri="{FF2B5EF4-FFF2-40B4-BE49-F238E27FC236}">
                <ns2:creationId id="{D4FFE122-1180-4381-B27B-27B3A00A954B}"/>
              </a:ext>
            </a:extLst>
          </p:cNvPr>
          <p:cNvSpPr>
            <a:spLocks noGrp="1"/>
          </p:cNvSpPr>
          <p:nvPr/>
        </p:nvSpPr>
        <p:spPr>
          <a:xfrm>
            <a:off x="6248400" y="3276600"/>
            <a:ext cx="2171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Inspect</a:t>
            </a:r>
          </a:p>
        </p:txBody>
      </p:sp>
      <p:sp>
        <p:nvSpPr>
          <p:cNvPr id="21" name="">
            <a:extLst>
              <a:ext uri="{FF2B5EF4-FFF2-40B4-BE49-F238E27FC236}">
                <ns2:creationId id="{9B9663E3-0A4A-46DD-80E5-70DB54EF5312}"/>
              </a:ext>
            </a:extLst>
          </p:cNvPr>
          <p:cNvSpPr>
            <a:spLocks noGrp="1"/>
          </p:cNvSpPr>
          <p:nvPr/>
        </p:nvSpPr>
        <p:spPr>
          <a:xfrm>
            <a:off x="6248400" y="3752850"/>
            <a:ext cx="21717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>
                <a:solidFill>
                  <a:srgbClr val="E2E8F0"/>
                </a:solidFill>
              </a:defRPr>
            </a:pPr>
            <a:r>
              <a:rPr sz="1200" b="0">
                <a:solidFill>
                  <a:srgbClr val="E2E8F0"/>
                </a:solidFill>
              </a:rPr>
              <a:t>Browse slices, overlays, and metrics.</a:t>
            </a:r>
          </a:p>
        </p:txBody>
      </p:sp>
      <p:sp>
        <p:nvSpPr>
          <p:cNvPr id="22" name="">
            <a:extLst>
              <a:ext uri="{FF2B5EF4-FFF2-40B4-BE49-F238E27FC236}">
                <ns2:creationId id="{4ED16ACB-ED78-4747-8160-DDFA2F26A751}"/>
              </a:ext>
            </a:extLst>
          </p:cNvPr>
          <p:cNvSpPr>
            <a:spLocks noGrp="1"/>
          </p:cNvSpPr>
          <p:nvPr/>
        </p:nvSpPr>
        <p:spPr>
          <a:xfrm>
            <a:off x="9505950" y="2190750"/>
            <a:ext cx="838200" cy="838200"/>
          </a:xfrm>
          <a:prstGeom prst="ellipse">
            <a:avLst/>
          </a:prstGeom>
          <a:solidFill>
            <a:srgbClr val="FFD230"/>
          </a:solidFill>
          <a:ln w="9525">
            <a:solidFill>
              <a:srgbClr val="FFD230"/>
            </a:solidFill>
            <a:prstDash val="solid"/>
          </a:ln>
        </p:spPr>
      </p:sp>
      <p:sp>
        <p:nvSpPr>
          <p:cNvPr id="23" name="">
            <a:extLst>
              <a:ext uri="{FF2B5EF4-FFF2-40B4-BE49-F238E27FC236}">
                <ns2:creationId id="{2342E62F-DF9B-406D-8175-1EBAD8BA4A4D}"/>
              </a:ext>
            </a:extLst>
          </p:cNvPr>
          <p:cNvSpPr>
            <a:spLocks noGrp="1"/>
          </p:cNvSpPr>
          <p:nvPr/>
        </p:nvSpPr>
        <p:spPr>
          <a:xfrm>
            <a:off x="9505950" y="2400300"/>
            <a:ext cx="8382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4</a:t>
            </a:r>
          </a:p>
        </p:txBody>
      </p:sp>
      <p:sp>
        <p:nvSpPr>
          <p:cNvPr id="24" name="">
            <a:extLst>
              <a:ext uri="{FF2B5EF4-FFF2-40B4-BE49-F238E27FC236}">
                <ns2:creationId id="{A9C9D2B7-F83F-43F2-8CAF-8F6AC492A45F}"/>
              </a:ext>
            </a:extLst>
          </p:cNvPr>
          <p:cNvSpPr>
            <a:spLocks noGrp="1"/>
          </p:cNvSpPr>
          <p:nvPr/>
        </p:nvSpPr>
        <p:spPr>
          <a:xfrm>
            <a:off x="8839200" y="3276600"/>
            <a:ext cx="2171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Predict</a:t>
            </a:r>
          </a:p>
        </p:txBody>
      </p:sp>
      <p:sp>
        <p:nvSpPr>
          <p:cNvPr id="25" name="">
            <a:extLst>
              <a:ext uri="{FF2B5EF4-FFF2-40B4-BE49-F238E27FC236}">
                <ns2:creationId id="{D6524615-5168-4974-A1DF-F7B0F0A49882}"/>
              </a:ext>
            </a:extLst>
          </p:cNvPr>
          <p:cNvSpPr>
            <a:spLocks noGrp="1"/>
          </p:cNvSpPr>
          <p:nvPr/>
        </p:nvSpPr>
        <p:spPr>
          <a:xfrm>
            <a:off x="8839200" y="3752850"/>
            <a:ext cx="21717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>
                <a:solidFill>
                  <a:srgbClr val="E2E8F0"/>
                </a:solidFill>
              </a:defRPr>
            </a:pPr>
            <a:r>
              <a:rPr sz="1200" b="0">
                <a:solidFill>
                  <a:srgbClr val="E2E8F0"/>
                </a:solidFill>
              </a:rPr>
              <a:t>Run MedSAM prediction when model weights are present.</a:t>
            </a:r>
          </a:p>
        </p:txBody>
      </p:sp>
      <p:sp>
        <p:nvSpPr>
          <p:cNvPr id="26" name="">
            <a:extLst>
              <a:ext uri="{FF2B5EF4-FFF2-40B4-BE49-F238E27FC236}">
                <ns2:creationId id="{C80DFDE8-A442-4642-94C7-9EBB00317A3D}"/>
              </a:ext>
            </a:extLst>
          </p:cNvPr>
          <p:cNvSpPr>
            <a:spLocks noGrp="1"/>
          </p:cNvSpPr>
          <p:nvPr/>
        </p:nvSpPr>
        <p:spPr>
          <a:xfrm>
            <a:off x="1485900" y="5105400"/>
            <a:ext cx="9220200" cy="666750"/>
          </a:xfrm>
          <a:prstGeom prst="roundRect">
            <a:avLst>
              <a:gd name="adj" fmla="val 17143"/>
            </a:avLst>
          </a:prstGeom>
          <a:solidFill>
            <a:srgbClr val="0F172B"/>
          </a:solidFill>
          <a:ln w="9525">
            <a:solidFill>
              <a:srgbClr val="314158"/>
            </a:solidFill>
            <a:prstDash val="solid"/>
          </a:ln>
        </p:spPr>
      </p:sp>
      <p:sp>
        <p:nvSpPr>
          <p:cNvPr id="27" name="">
            <a:extLst>
              <a:ext uri="{FF2B5EF4-FFF2-40B4-BE49-F238E27FC236}">
                <ns2:creationId id="{A2535850-FF99-4CB2-808C-9541B1740506}"/>
              </a:ext>
            </a:extLst>
          </p:cNvPr>
          <p:cNvSpPr>
            <a:spLocks noGrp="1"/>
          </p:cNvSpPr>
          <p:nvPr/>
        </p:nvSpPr>
        <p:spPr>
          <a:xfrm>
            <a:off x="1962150" y="5314950"/>
            <a:ext cx="82677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00D3F2"/>
                </a:solidFill>
              </a:defRPr>
            </a:pPr>
            <a:r>
              <a:rPr sz="1350" b="1">
                <a:solidFill>
                  <a:srgbClr val="00D3F2"/>
                </a:solidFill>
              </a:rPr>
              <a:t>Takeaway: the project demonstrates an integrated medical AI agent with memory, orchestration, reusable skills, and model-ready outputs.</a:t>
            </a:r>
          </a:p>
        </p:txBody>
      </p:sp>
      <p:sp>
        <p:nvSpPr>
          <p:cNvPr id="28" name="">
            <a:extLst>
              <a:ext uri="{FF2B5EF4-FFF2-40B4-BE49-F238E27FC236}">
                <ns2:creationId id="{F9F6724A-A0C2-44E8-A3D3-2D3FC79E6AF4}"/>
              </a:ext>
            </a:extLst>
          </p:cNvPr>
          <p:cNvSpPr>
            <a:spLocks noGrp="1"/>
          </p:cNvSpPr>
          <p:nvPr/>
        </p:nvSpPr>
        <p:spPr>
          <a:xfrm>
            <a:off x="685800" y="6515100"/>
            <a:ext cx="3238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1">
                <a:solidFill>
                  <a:srgbClr val="62748E"/>
                </a:solidFill>
              </a:defRPr>
            </a:pPr>
            <a:r>
              <a:rPr sz="750" b="1">
                <a:solidFill>
                  <a:srgbClr val="62748E"/>
                </a:solidFill>
              </a:rPr>
              <a:t>3D Medical Image Intelligent Agent</a:t>
            </a:r>
          </a:p>
        </p:txBody>
      </p:sp>
      <p:sp>
        <p:nvSpPr>
          <p:cNvPr id="29" name="">
            <a:extLst>
              <a:ext uri="{FF2B5EF4-FFF2-40B4-BE49-F238E27FC236}">
                <ns2:creationId id="{BA606A41-C7F3-46A7-A483-9F5E22CE2C9E}"/>
              </a:ext>
            </a:extLst>
          </p:cNvPr>
          <p:cNvSpPr>
            <a:spLocks noGrp="1"/>
          </p:cNvSpPr>
          <p:nvPr/>
        </p:nvSpPr>
        <p:spPr>
          <a:xfrm>
            <a:off x="8096250" y="6515100"/>
            <a:ext cx="34099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750" b="1">
                <a:solidFill>
                  <a:srgbClr val="62748E"/>
                </a:solidFill>
              </a:defRPr>
            </a:pPr>
            <a:r>
              <a:rPr sz="750" b="1">
                <a:solidFill>
                  <a:srgbClr val="62748E"/>
                </a:solidFill>
              </a:rPr>
              <a:t>Local RAG | NIfTI | Segmentation | MedSAM</a:t>
            </a:r>
          </a:p>
        </p:txBody>
      </p:sp>
    </p:spTree>
    <p:extLst>
      <p:ext uri="{BB962C8B-B14F-4D97-AF65-F5344CB8AC3E}">
        <ns3:creationId val="72315772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206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8FDC3F7-164D-4519-8BCB-919F67608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0618"/>
          </a:solidFill>
          <a:ln xmlns:a="http://schemas.openxmlformats.org/drawingml/2006/main" w="9525">
            <a:solidFill>
              <a:srgbClr val="02061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BD8C6B-DC0D-4979-BBA8-6385BE2BA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3F2"/>
          </a:solidFill>
          <a:ln xmlns:a="http://schemas.openxmlformats.org/drawingml/2006/main" w="9525">
            <a:solidFill>
              <a:srgbClr val="00D3F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EBC304-5471-4D10-A986-7CCCD435A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10375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293D"/>
          </a:solidFill>
          <a:ln xmlns:a="http://schemas.openxmlformats.org/drawingml/2006/main" w="9525">
            <a:solidFill>
              <a:srgbClr val="1D293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3D44DB-EE4E-44FC-8389-08792CE26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-1619250"/>
            <a:ext cx="4095750" cy="409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172B"/>
          </a:solidFill>
          <a:ln xmlns:a="http://schemas.openxmlformats.org/drawingml/2006/main" w="9525">
            <a:solidFill>
              <a:srgbClr val="0F172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DDE214-6EDC-49F3-A0FB-4C3BF69B5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000250" y="447675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172B"/>
          </a:solidFill>
          <a:ln xmlns:a="http://schemas.openxmlformats.org/drawingml/2006/main" w="9525">
            <a:solidFill>
              <a:srgbClr val="0F172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9289A1-1CC6-4ED2-B808-BEB2EF223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D3F2"/>
                </a:solidFill>
              </a:defRPr>
            </a:pPr>
            <a:r>
              <a:rPr sz="900" b="1">
                <a:solidFill>
                  <a:srgbClr val="00D3F2"/>
                </a:solidFill>
              </a:rPr>
              <a:t>DEMO VIDEO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759C9C-94C5-478F-A949-2BF4E1882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3238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0A1B9"/>
                </a:solidFill>
              </a:defRPr>
            </a:pPr>
            <a:r>
              <a:rPr sz="900" b="1">
                <a:solidFill>
                  <a:srgbClr val="90A1B9"/>
                </a:solidFill>
              </a:rPr>
              <a:t>11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F09D51-B2E2-4848-B716-33DA55F8D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895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Video placeholder for the working system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1D3096-AEC2-4899-A7EF-EAEE515FF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857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3F2"/>
          </a:solidFill>
          <a:ln xmlns:a="http://schemas.openxmlformats.org/drawingml/2006/main" w="9525">
            <a:solidFill>
              <a:srgbClr val="00D3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EE0E0C-316F-4325-A47F-C6730E0E1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981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E2E8F0"/>
                </a:solidFill>
              </a:defRPr>
            </a:pPr>
            <a:r>
              <a:rPr sz="1575" b="0">
                <a:solidFill>
                  <a:srgbClr val="E2E8F0"/>
                </a:solidFill>
              </a:rPr>
              <a:t>This slide reserves a large editable placeholder for the local demo recording. Insert the MP4 here before presenting.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F4D3CE-70EF-45BD-9A12-F3CCB3B33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000250"/>
            <a:ext cx="8572500" cy="40005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0F172B"/>
          </a:solidFill>
          <a:ln xmlns:a="http://schemas.openxmlformats.org/drawingml/2006/main" w="9525">
            <a:solidFill>
              <a:srgbClr val="45556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96FCEB-4549-48B5-8528-C7E5A3813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3371850"/>
            <a:ext cx="1104900" cy="1104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3F2"/>
          </a:solidFill>
          <a:ln xmlns:a="http://schemas.openxmlformats.org/drawingml/2006/main" w="9525">
            <a:solidFill>
              <a:srgbClr val="00D3F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AFB1F8-8EEE-4D15-8554-CE1D0E2F5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600450"/>
            <a:ext cx="571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450" b="1">
                <a:solidFill>
                  <a:srgbClr val="020618"/>
                </a:solidFill>
              </a:defRPr>
            </a:pPr>
            <a:r>
              <a:rPr sz="3450" b="1">
                <a:solidFill>
                  <a:srgbClr val="020618"/>
                </a:solidFill>
              </a:rPr>
              <a:t>&gt;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3D0AFA-FDC0-443C-A787-3C8D6AF8D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667250"/>
            <a:ext cx="3771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VIDEO PLACEHOLDER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6FD422-5881-402A-820F-D1382889F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5067300"/>
            <a:ext cx="3771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90A1B9"/>
                </a:solidFill>
              </a:defRPr>
            </a:pPr>
            <a:r>
              <a:rPr sz="1200" b="0">
                <a:solidFill>
                  <a:srgbClr val="90A1B9"/>
                </a:solidFill>
              </a:rPr>
              <a:t>Insert 20260621_195154.mp4 here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82FBBA-F229-48D7-8A42-002E87C8F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5657850"/>
            <a:ext cx="6324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00D3F2"/>
                </a:solidFill>
              </a:defRPr>
            </a:pPr>
            <a:r>
              <a:rPr sz="1200" b="0">
                <a:solidFill>
                  <a:srgbClr val="00D3F2"/>
                </a:solidFill>
              </a:rPr>
              <a:t>Replace this frame with your demo video in PowerPoint.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5A4EAC-6CB1-456C-BDBA-9E0334159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323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2748E"/>
                </a:solidFill>
              </a:defRPr>
            </a:pPr>
            <a:r>
              <a:rPr sz="750" b="1">
                <a:solidFill>
                  <a:srgbClr val="62748E"/>
                </a:solidFill>
              </a:rPr>
              <a:t>3D Medical Image Intelligent Agent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7E156E-E460-45F6-917A-5E53F3D7C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15100"/>
            <a:ext cx="3409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2748E"/>
                </a:solidFill>
              </a:defRPr>
            </a:pPr>
            <a:r>
              <a:rPr sz="750" b="1">
                <a:solidFill>
                  <a:srgbClr val="62748E"/>
                </a:solidFill>
              </a:rPr>
              <a:t>Local RAG | NIfTI | Segmentation | MedSAM</a:t>
            </a:r>
          </a:p>
        </p:txBody>
      </p:sp>
    </p:spTree>
    <p:extLst>
      <p:ext uri="{BB962C8B-B14F-4D97-AF65-F5344CB8AC3E}">
        <p14:creationId xmlns:p14="http://schemas.microsoft.com/office/powerpoint/2010/main" val="98574694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2026-06-21T12:29:17.1520000Z</dcterms:created>
  <dcterms:modified xsi:type="dcterms:W3CDTF">2026-06-21T12:29:17.1530000Z</dcterms:modified>
</coreProperties>
</file>